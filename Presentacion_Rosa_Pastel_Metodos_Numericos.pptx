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8" r:id="rId19"/>
    <p:sldId id="262" r:id="rId13"/>
    <p:sldId id="263" r:id="rId14"/>
    <p:sldId id="269" r:id="rId20"/>
    <p:sldId id="264" r:id="rId15"/>
    <p:sldId id="265" r:id="rId16"/>
    <p:sldId id="266" r:id="rId17"/>
    <p:sldId id="267" r:id="rId18"/>
  </p:sldIdLst>
  <p:sldSz cx="12192000" cy="6858000" type="screen4x3"/>
  <p:notesSz cx="6858000" cy="9144000"/>
  <p:embeddedFontLst>
    <p:embeddedFont>
      <p:font typeface="Space Grotesk"/>
      <p:bold r:id="rIdFont19"/>
    </p:embeddedFont>
    <p:embeddedFont>
      <p:font typeface="Plus Jakarta Sans"/>
      <p:regular r:id="rIdFont21"/>
      <p:bold r:id="rIdFont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<Relationship Id="rIdFont19" Type="http://schemas.openxmlformats.org/officeDocument/2006/relationships/font" Target="fonts/bc8e50e3-0fd2-447f-b52f-5afa504d95b6.fntdata" /><Relationship Id="rIdFont20" Type="http://schemas.openxmlformats.org/officeDocument/2006/relationships/font" Target="fonts/94207462-1b32-4c5b-870f-854b3bbeadf7.fntdata" /><Relationship Id="rIdFont21" Type="http://schemas.openxmlformats.org/officeDocument/2006/relationships/font" Target="fonts/96ae087c-a567-45a7-a9db-da851427948f.fntdata" />  <Relationship Id="rId19" Type="http://schemas.openxmlformats.org/officeDocument/2006/relationships/slide" Target="slides/slide13.xml"/>
  <Relationship Id="rId20" Type="http://schemas.openxmlformats.org/officeDocument/2006/relationships/slide" Target="slides/slide14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638800"/>
            <a:ext cx="10972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63880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6643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43F5E"/>
                </a:solidFill>
                <a:latin typeface="Plus Jakarta Sans"/>
              </a:rPr>
              <a:t>UNIVERSIDAD CATÓLICA DE CÓRDOBA · FACULTAD DE INGENIERÍA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230784"/>
            <a:ext cx="9701212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Space Grotesk"/>
              </a:rPr>
              <a:t>Modelado Numérico del Fenómeno </a:t>
            </a:r>
            <a:r>
              <a:rPr b="1" sz="3900" i="0" u="none">
                <a:solidFill>
                  <a:srgbClr val="FB7185"/>
                </a:solidFill>
                <a:latin typeface="Space Grotesk"/>
              </a:rPr>
              <a:t>'Rosa Pastel'</a:t>
            </a:r>
            <a:r>
              <a:rPr b="1" sz="3900" i="0" u="none">
                <a:solidFill>
                  <a:srgbClr val="FFFFFF"/>
                </a:solidFill>
                <a:latin typeface="Space Grotesk"/>
              </a:rPr>
              <a:t> en Spotify México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541365"/>
            <a:ext cx="9239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Mínimos cuadrados con eliminación gaussiana, trazadora cúbica natural, Bisección vs. Newton-Raphson y diferenciación numérica sobre 47 semanas de datos reales.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6350" y="533400"/>
            <a:ext cx="1738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Ingeniería Informática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53700" y="533400"/>
            <a:ext cx="13144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4A3B8"/>
                </a:solidFill>
                <a:latin typeface="Plus Jakarta Sans"/>
              </a:rPr>
              <a:t>Comisión 46324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5876925"/>
            <a:ext cx="44529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43F5E"/>
                </a:solidFill>
                <a:latin typeface="Plus Jakarta Sans"/>
              </a:rPr>
              <a:t>EQUIPO DE INVESTIGACIÓN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105525"/>
            <a:ext cx="44529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E2E8F0"/>
                </a:solidFill>
                <a:latin typeface="Plus Jakarta Sans"/>
              </a:rPr>
              <a:t>Pedro Gatti · Facundo Grillo · Gonzalo Marin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5275" y="5876925"/>
            <a:ext cx="3667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94A3B8"/>
                </a:solidFill>
                <a:latin typeface="Plus Jakarta Sans"/>
              </a:rPr>
              <a:t>CÁTEDRA DE MÉTODOS NUMÉRICOS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5275" y="6105525"/>
            <a:ext cx="36671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b="0" sz="1350" i="0" u="none">
                <a:solidFill>
                  <a:srgbClr val="CBD5E1"/>
                </a:solidFill>
                <a:latin typeface="Plus Jakarta Sans"/>
              </a:rPr>
              <a:t>Docente: Ing. Carlos Arnaudo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51620"/>
            <a:ext cx="5257800" cy="952500"/>
          </a:xfrm>
          <a:prstGeom prst="roundRect">
            <a:avLst>
              <a:gd name="adj" fmla="val 14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94620"/>
            <a:ext cx="5257800" cy="952500"/>
          </a:xfrm>
          <a:prstGeom prst="roundRect">
            <a:avLst>
              <a:gd name="adj" fmla="val 14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537620"/>
            <a:ext cx="5257800" cy="952500"/>
          </a:xfrm>
          <a:prstGeom prst="roundRect">
            <a:avLst>
              <a:gd name="adj" fmla="val 1400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870620"/>
            <a:ext cx="5257800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870620"/>
            <a:ext cx="5257800" cy="400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508795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651795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794795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CONTEXTO Y CASO DE ESTUDIO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El Resurgimiento Viral de Belanova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480220"/>
            <a:ext cx="6300787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E123C"/>
                </a:solidFill>
                <a:latin typeface="Space Grotesk"/>
              </a:rPr>
              <a:t>Clásico Electropop (2006)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756445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Lanzamiento original del disco Dulce Beat.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623220"/>
            <a:ext cx="6300787" cy="21907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E123C"/>
                </a:solidFill>
                <a:latin typeface="Space Grotesk"/>
              </a:rPr>
              <a:t>Tendencia Masiva TikTok (2023)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899445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Viralización masiva bajo el trend de sueños frustrados.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766220"/>
            <a:ext cx="6300787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E123C"/>
                </a:solidFill>
                <a:latin typeface="Space Grotesk"/>
              </a:rPr>
              <a:t>Salto de Escala Exponencial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042445"/>
            <a:ext cx="6000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De 1.1 M a pico de 4.17 M semanales en México.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2142083"/>
            <a:ext cx="5257800" cy="1171575"/>
          </a:xfrm>
          <a:prstGeom prst="roundRect">
            <a:avLst>
              <a:gd name="adj" fmla="val 11382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3504158"/>
            <a:ext cx="5257800" cy="952500"/>
          </a:xfrm>
          <a:prstGeom prst="roundRect">
            <a:avLst>
              <a:gd name="adj" fmla="val 14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4647158"/>
            <a:ext cx="5257800" cy="952500"/>
          </a:xfrm>
          <a:prstGeom prst="roundRect">
            <a:avLst>
              <a:gd name="adj" fmla="val 1400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70620"/>
            <a:ext cx="5257800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70620"/>
            <a:ext cx="5257800" cy="400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399258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3761333"/>
            <a:ext cx="219075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4904333"/>
            <a:ext cx="1333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JUSTIFICACIÓN TÉCNICA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Telemetría y Dimensionamiento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2370683"/>
            <a:ext cx="5638800" cy="219075"/>
          </a:xfrm>
          <a:prstGeom prst="rect">
            <a:avLst/>
          </a:prstGeom>
          <a:noFill/>
        </p:spPr>
        <p:txBody>
          <a:bodyPr wrap="none" lIns="2476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Space Grotesk"/>
              </a:rPr>
              <a:t>Infraestructura y Redes CDN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646908"/>
            <a:ext cx="48958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Dimensionamiento elástico ante aumentos súbitos de demanda.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732758"/>
            <a:ext cx="5638800" cy="219075"/>
          </a:xfrm>
          <a:prstGeom prst="rect">
            <a:avLst/>
          </a:prstGeom>
          <a:noFill/>
        </p:spPr>
        <p:txBody>
          <a:bodyPr wrap="none" lIns="295275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Space Grotesk"/>
              </a:rPr>
              <a:t>Naturaleza Discreta del Dato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4008983"/>
            <a:ext cx="5638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Muestreo semanal con dispersión y ruido estocástico.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4875758"/>
            <a:ext cx="5638800" cy="21907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369A1"/>
                </a:solidFill>
                <a:latin typeface="Space Grotesk"/>
              </a:rPr>
              <a:t>Aporte Numérico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5151983"/>
            <a:ext cx="5638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Conversión analítica continua para optimizar recursos.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45840"/>
            <a:ext cx="10972800" cy="480253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23033"/>
            <a:ext cx="10363200" cy="304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200775"/>
            <a:ext cx="4702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Fuente Oficial: 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kworb.net (Top 200 Spotify México)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4850" y="6200775"/>
            <a:ext cx="38671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Acumulado 26/01-14/12/2023: </a:t>
            </a:r>
            <a:r>
              <a:rPr b="1" sz="1200" i="0" u="none">
                <a:solidFill>
                  <a:srgbClr val="E11D48"/>
                </a:solidFill>
                <a:latin typeface="Plus Jakarta Sans"/>
              </a:rPr>
              <a:t>132.9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8810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MUESTREO EXPERIMENTAL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66750"/>
            <a:ext cx="9251156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47 Semanas de Telemetría en Spotify México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0" y="883890"/>
            <a:ext cx="11247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Datos reales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1432" y="883890"/>
            <a:ext cx="120700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Ajuste cúbico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883890"/>
            <a:ext cx="87782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Plus Jakarta Sans"/>
              </a:rPr>
              <a:t>Trazadora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41090"/>
            <a:ext cx="10972800" cy="1571625"/>
          </a:xfrm>
          <a:prstGeom prst="roundRect">
            <a:avLst>
              <a:gd name="adj" fmla="val 969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128045"/>
            <a:ext cx="3505200" cy="1323975"/>
          </a:xfrm>
          <a:prstGeom prst="roundRect">
            <a:avLst>
              <a:gd name="adj" fmla="val 100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4128045"/>
            <a:ext cx="3505200" cy="1323975"/>
          </a:xfrm>
          <a:prstGeom prst="roundRect">
            <a:avLst>
              <a:gd name="adj" fmla="val 100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4128045"/>
            <a:ext cx="3505200" cy="1323975"/>
          </a:xfrm>
          <a:prstGeom prst="roundRect">
            <a:avLst>
              <a:gd name="adj" fmla="val 100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MÉTODO NUMÉRICO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Ajuste de Curvas por Mínimos Cuadrados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645890"/>
            <a:ext cx="11201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B7185"/>
                </a:solidFill>
                <a:latin typeface="Plus Jakarta Sans"/>
              </a:rPr>
              <a:t>MODELO CONTINUO CÚBICO OBTENIDO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1931640"/>
            <a:ext cx="11201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8FAFC"/>
                </a:solidFill>
                <a:latin typeface="Space Grotesk"/>
              </a:rPr>
              <a:t>S(t) = -0.000839 · t³ + 0.076977 · t² + 1.081162 · t + 2.072898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407890"/>
            <a:ext cx="11201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Permite representar la concavidad de aceleración inicial y la posterior estabilización anual.</a:t>
            </a:r>
          </a:p>
        </p:txBody>
      </p:sp>
      <p:sp>
        <p:nvSpPr>
          <p:cNvPr id="40" name="Gauss"/>
          <p:cNvSpPr txBox="1"/>
          <p:nvPr/>
        </p:nvSpPr>
        <p:spPr>
          <a:xfrm>
            <a:off x="612648" y="3200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Las ecuaciones normales (sistema 4×4) se resolvieron con eliminación gaussiana programada a mano: triangulación y sustitución hacia atrás. Los coeficientes coinciden con NumPy hasta 10⁻¹².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356645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BONDAD DE AJUSTE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585245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3000" i="0" u="none">
                <a:solidFill>
                  <a:srgbClr val="E11D48"/>
                </a:solidFill>
                <a:latin typeface="Plus Jakarta Sans"/>
              </a:rPr>
              <a:t>99.95%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023395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R² = 0.999533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56645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ERROR ESTÁNDAR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585245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3000" i="0" u="none">
                <a:solidFill>
                  <a:srgbClr val="0F172A"/>
                </a:solidFill>
                <a:latin typeface="Plus Jakarta Sans"/>
              </a:rPr>
              <a:t>0.927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3395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S_y/x de estimación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4356645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SUMA DE CUADRADOS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4585245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3000" i="0" u="none">
                <a:solidFill>
                  <a:srgbClr val="0284C7"/>
                </a:solidFill>
                <a:latin typeface="Plus Jakarta Sans"/>
              </a:rPr>
              <a:t>36.94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5023395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S_r de los residuos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37370"/>
            <a:ext cx="5334000" cy="28956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32608"/>
            <a:ext cx="5334000" cy="2905125"/>
          </a:xfrm>
          <a:prstGeom prst="roundRect">
            <a:avLst>
              <a:gd name="adj" fmla="val 5245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766220"/>
            <a:ext cx="472440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53200" y="4770983"/>
            <a:ext cx="4724400" cy="3619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876800" y="2865983"/>
            <a:ext cx="762000" cy="247650"/>
          </a:xfrm>
          <a:prstGeom prst="roundRect">
            <a:avLst>
              <a:gd name="adj" fmla="val 30769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766220"/>
            <a:ext cx="4724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53700" y="2861220"/>
            <a:ext cx="723900" cy="247650"/>
          </a:xfrm>
          <a:prstGeom prst="roundRect">
            <a:avLst>
              <a:gd name="adj" fmla="val 30769"/>
            </a:avLst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53200" y="4770983"/>
            <a:ext cx="4724400" cy="9525"/>
          </a:xfrm>
          <a:prstGeom prst="rect">
            <a:avLst/>
          </a:prstGeom>
          <a:solidFill>
            <a:srgbClr val="FECD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MÉTODO NUMÉRICO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Determinación del Hito de 100 Millones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11249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Planteo de raíz f(t) = S(t) - 100 = 0 con tolerancia exigida |Ea%| &lt; 10⁻⁴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89845"/>
            <a:ext cx="5905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Intervalo inicial: 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[35.0, 36.0]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94745"/>
            <a:ext cx="5905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Convergencia lineal estable con factor 0.5.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285083"/>
            <a:ext cx="563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Semilla inicial: </a:t>
            </a:r>
            <a:r>
              <a:rPr b="1" sz="1350" i="0" u="none">
                <a:solidFill>
                  <a:srgbClr val="334155"/>
                </a:solidFill>
                <a:latin typeface="Plus Jakarta Sans"/>
              </a:rPr>
              <a:t>t₀ = 35.0 semanas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4399508"/>
            <a:ext cx="5638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Convergencia cuadrática acelerada por tangentes.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842170"/>
            <a:ext cx="143017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Bisección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1100" y="2904083"/>
            <a:ext cx="628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Cerrado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61320"/>
            <a:ext cx="752475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284C7"/>
                </a:solidFill>
                <a:latin typeface="Plus Jakarta Sans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57325" y="3956595"/>
            <a:ext cx="1209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64748B"/>
                </a:solidFill>
                <a:latin typeface="Plus Jakarta Sans"/>
              </a:rPr>
              <a:t>iteraciones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09095"/>
            <a:ext cx="5905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Raíz de la regresión: t* = 35.520172 semanas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2837408"/>
            <a:ext cx="252531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BE123C"/>
                </a:solidFill>
                <a:latin typeface="Space Grotesk"/>
              </a:rPr>
              <a:t>Newton-Raphson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0" y="2899320"/>
            <a:ext cx="5905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F1239"/>
                </a:solidFill>
                <a:latin typeface="Plus Jakarta Sans"/>
              </a:rPr>
              <a:t>Abierto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3666083"/>
            <a:ext cx="561975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E11D48"/>
                </a:solidFill>
                <a:latin typeface="Plus Jakarta Sa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5625" y="3961358"/>
            <a:ext cx="26431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E123C"/>
                </a:solidFill>
                <a:latin typeface="Plus Jakarta Sans"/>
              </a:rPr>
              <a:t>iteraciones (5× menos)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200" y="4913858"/>
            <a:ext cx="5638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F1239"/>
                </a:solidFill>
                <a:latin typeface="Plus Jakarta Sans"/>
              </a:rPr>
              <a:t>Raíz de la regresión: t* = 35.520148 semanas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23033"/>
            <a:ext cx="10363200" cy="304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200775"/>
            <a:ext cx="4691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Bisección: Robusto e incondicional (15 iteraciones).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24700" y="6200775"/>
            <a:ext cx="50673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11D48"/>
                </a:solidFill>
                <a:latin typeface="Plus Jakarta Sans"/>
              </a:rPr>
              <a:t>Newton-Raphson: Convergencia cuadrática en solo 3 pasos.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70127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EFICIENCIA NUMÉRICA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66750"/>
            <a:ext cx="736342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Convergencia: Lineal vs. Cuadrática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3368" y="883890"/>
            <a:ext cx="2276856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Bisección (15 iteraciones)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70264" y="883890"/>
            <a:ext cx="2606039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Newton-Raphson (3 iteraciones)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95975"/>
            <a:ext cx="5334000" cy="504825"/>
          </a:xfrm>
          <a:prstGeom prst="roundRect">
            <a:avLst>
              <a:gd name="adj" fmla="val 22641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5895975"/>
            <a:ext cx="5334000" cy="504825"/>
          </a:xfrm>
          <a:prstGeom prst="roundRect">
            <a:avLst>
              <a:gd name="adj" fmla="val 2264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65883"/>
            <a:ext cx="1036320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8548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Plus Jakarta Sans"/>
              </a:rPr>
              <a:t>MÉTODO NUMÉRICO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66750"/>
            <a:ext cx="8976121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Ritmo de Demanda y Diferenciación (dS/dt)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6048375"/>
            <a:ext cx="619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B21A8"/>
                </a:solidFill>
                <a:latin typeface="Plus Jakarta Sans"/>
              </a:rPr>
              <a:t>Pico Real Observado: Semana 26 (4.171 M streams/semana)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6048375"/>
            <a:ext cx="5753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Pico del Modelo Cúbico: Semana 30.59 (3.436 M streams/semana)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207008"/>
            <a:ext cx="219456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B5CF6"/>
                </a:solidFill>
                <a:latin typeface="Plus Jakarta Sans"/>
              </a:rPr>
              <a:t>Streams semanales medidos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1207008"/>
            <a:ext cx="219456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Plus Jakarta Sans"/>
              </a:rPr>
              <a:t>Derivada del modelo S'(t)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80270"/>
            <a:ext cx="2571750" cy="2019300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880270"/>
            <a:ext cx="2571750" cy="2019300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880270"/>
            <a:ext cx="2571750" cy="2019300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880270"/>
            <a:ext cx="2571750" cy="2019300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4697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146970"/>
            <a:ext cx="381000" cy="381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900" y="3146970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0" y="3146970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" y="3251745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9512" y="3251745"/>
            <a:ext cx="219075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3251745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4025" y="3251745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EVALUACIÓN TÉCNICA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Límites y Condiciones de Borde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642270"/>
            <a:ext cx="27753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Discrepancia Puntual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975645"/>
            <a:ext cx="2209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Regresión: 2.77 d del cruce medido, más que Δt = ±1.92 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8550" y="3642270"/>
            <a:ext cx="27753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Suavizado del Pico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8550" y="3975645"/>
            <a:ext cx="2209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Atenúa el máximo un 18 % y lo desplaza 4.6 semanas.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8900" y="3642270"/>
            <a:ext cx="27753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Alcance Muestral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8900" y="3975645"/>
            <a:ext cx="2209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Restringido exclusivamente al Top 200 de Spotify México.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0" y="3642270"/>
            <a:ext cx="277534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No Extrapolable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0" y="3975645"/>
            <a:ext cx="22098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El término cúbico negativo colapsa fuera del intervalo anual.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79190"/>
            <a:ext cx="3454449" cy="1266825"/>
          </a:xfrm>
          <a:prstGeom prst="roundRect">
            <a:avLst>
              <a:gd name="adj" fmla="val 12030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1379190"/>
            <a:ext cx="3454449" cy="1266825"/>
          </a:xfrm>
          <a:prstGeom prst="roundRect">
            <a:avLst>
              <a:gd name="adj" fmla="val 12030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1379190"/>
            <a:ext cx="3454449" cy="1266825"/>
          </a:xfrm>
          <a:prstGeom prst="roundRect">
            <a:avLst>
              <a:gd name="adj" fmla="val 1203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137570"/>
            <a:ext cx="5372100" cy="10763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0300" y="4137570"/>
            <a:ext cx="5372100" cy="10763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137570"/>
            <a:ext cx="38100" cy="107632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0300" y="4137570"/>
            <a:ext cx="38100" cy="1076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SÍNTESIS DEL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Conclusiones y Aportes a la Ingeniería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168" y="1645890"/>
            <a:ext cx="365131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600" i="0" u="none">
                <a:solidFill>
                  <a:srgbClr val="E11D48"/>
                </a:solidFill>
                <a:latin typeface="Plus Jakarta Sans"/>
              </a:rPr>
              <a:t>99.95%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168" y="2179290"/>
            <a:ext cx="365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75569"/>
                </a:solidFill>
                <a:latin typeface="Plus Jakarta Sans"/>
              </a:rPr>
              <a:t>Varianza explicada por el ajuste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418" y="1645890"/>
            <a:ext cx="365131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600" i="0" u="none">
                <a:solidFill>
                  <a:srgbClr val="0284C7"/>
                </a:solidFill>
                <a:latin typeface="Plus Jakarta Sans"/>
              </a:rPr>
              <a:t>3 vs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418" y="2179290"/>
            <a:ext cx="365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75569"/>
                </a:solidFill>
                <a:latin typeface="Plus Jakarta Sans"/>
              </a:rPr>
              <a:t>Iteraciones: Newton-Raphson vs. Bisección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9668" y="1645890"/>
            <a:ext cx="365131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1" sz="3600" i="0" u="none">
                <a:solidFill>
                  <a:srgbClr val="16A34A"/>
                </a:solidFill>
                <a:latin typeface="Plus Jakarta Sans"/>
              </a:rPr>
              <a:t>29/09/2023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9668" y="2179290"/>
            <a:ext cx="3651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475569"/>
                </a:solidFill>
                <a:latin typeface="Plus Jakarta Sans"/>
              </a:rPr>
              <a:t>Hito de 100 M (trazadora, ±2 días)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328070"/>
            <a:ext cx="6400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Modelado Continuo Fiable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585245"/>
            <a:ext cx="49720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La regresión capta la tendencia, la trazadora respeta los datos y Δt cuantifica el error.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4328070"/>
            <a:ext cx="57150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Previsión de Servidores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0" y="4585245"/>
            <a:ext cx="49720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Plus Jakarta Sans"/>
              </a:rPr>
              <a:t>Permite anticipar requerimientos de streaming y tráfico de red en picos virales.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581400" y="4007048"/>
            <a:ext cx="5029200" cy="600075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9562" y="1812577"/>
            <a:ext cx="3952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FB7185"/>
                </a:solidFill>
                <a:latin typeface="Plus Jakarta Sans"/>
              </a:rPr>
              <a:t>TALLER DE MÉTODOS NUMÉRICOS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14339" y="2136427"/>
            <a:ext cx="6563320" cy="6704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FFFFF"/>
                </a:solidFill>
                <a:latin typeface="Space Grotesk"/>
              </a:rPr>
              <a:t>¡Muchas Gracias!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6468" y="2997398"/>
            <a:ext cx="7739062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¿Preguntas o comentarios sobre el modelo analítico y la convergencia de algoritmos?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93343" y="4873823"/>
            <a:ext cx="44053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64748B"/>
                </a:solidFill>
                <a:latin typeface="Plus Jakarta Sans"/>
              </a:rPr>
              <a:t>Universidad Católica de Córdoba · Facultad de Ingeniería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81425" y="4197548"/>
            <a:ext cx="1238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E2E8F0"/>
                </a:solidFill>
                <a:latin typeface="Plus Jakarta Sans"/>
              </a:rPr>
              <a:t>Pedro Gatti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0415" y="4197548"/>
            <a:ext cx="151209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E2E8F0"/>
                </a:solidFill>
                <a:latin typeface="Plus Jakarta Sans"/>
              </a:rPr>
              <a:t>Facundo Grillo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678" y="4197548"/>
            <a:ext cx="146446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E2E8F0"/>
                </a:solidFill>
                <a:latin typeface="Plus Jakarta Sans"/>
              </a:rPr>
              <a:t>Gonzalo Marin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117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47750"/>
            <a:ext cx="6965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https://www.musicconnection.com/wp-content/uploads/2024/04/2V7A2667-620x420.jpg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47775"/>
            <a:ext cx="33099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www.musicconnection.com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19275"/>
            <a:ext cx="6274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Plus Jakarta Sans"/>
              </a:rPr>
              <a:t>https://stagsterlabs.com/images/capabilities/cloud-hosting-websites-mobile.png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19300"/>
            <a:ext cx="23455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stagsterlabs.com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41090"/>
            <a:ext cx="10972800" cy="1571625"/>
          </a:xfrm>
          <a:prstGeom prst="roundRect">
            <a:avLst>
              <a:gd name="adj" fmla="val 969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128045"/>
            <a:ext cx="3505200" cy="1323975"/>
          </a:xfrm>
          <a:prstGeom prst="roundRect">
            <a:avLst>
              <a:gd name="adj" fmla="val 100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4128045"/>
            <a:ext cx="3505200" cy="1323975"/>
          </a:xfrm>
          <a:prstGeom prst="roundRect">
            <a:avLst>
              <a:gd name="adj" fmla="val 100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4128045"/>
            <a:ext cx="3505200" cy="1323975"/>
          </a:xfrm>
          <a:prstGeom prst="roundRect">
            <a:avLst>
              <a:gd name="adj" fmla="val 100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11D48"/>
                </a:solidFill>
                <a:latin typeface="Plus Jakarta Sans"/>
              </a:rPr>
              <a:t>MÉTODO NUMÉRICO 2 · CONTRASTE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11582400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Hito Adoptado: Trazadora e Incertidumbre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645890"/>
            <a:ext cx="11201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B7185"/>
                </a:solidFill>
                <a:latin typeface="Plus Jakarta Sans"/>
              </a:rPr>
              <a:t>HITO DE 100 M SEGÚN LA TRAZADORA CÚBICA NATURAL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1931640"/>
            <a:ext cx="11201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F8FAFC"/>
                </a:solidFill>
                <a:latin typeface="Space Grotesk"/>
              </a:rPr>
              <a:t>t* = 35.124 semanas  →  29 de septiembre de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2407890"/>
            <a:ext cx="112014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Plus Jakarta Sans"/>
              </a:rPr>
              <a:t>La trazadora pasa por los 47 datos medidos y coincide con la interpolación lineal de control (t = 35.127 semanas).</a:t>
            </a:r>
          </a:p>
        </p:txBody>
      </p:sp>
      <p:sp>
        <p:nvSpPr>
          <p:cNvPr id="41" name="Control"/>
          <p:cNvSpPr txBox="1"/>
          <p:nvPr/>
        </p:nvSpPr>
        <p:spPr>
          <a:xfrm>
            <a:off x="612648" y="3200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Control: interpolación lineal entre la semana 35 (99.602 M) y la 36 (102.738 M) da t = 35.127 semanas, a 0.4 horas de la trazadora. La regresión no pasa por esos puntos y ubica el cruce 2.77 días más tarde.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356645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RAÍZ DE LA REGRESIÓN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585245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3000" i="0" u="none">
                <a:solidFill>
                  <a:srgbClr val="E11D48"/>
                </a:solidFill>
                <a:latin typeface="Plus Jakarta Sans"/>
              </a:rPr>
              <a:t>35.520 sem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023395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Bisección y Newton coinciden: 2 de octubre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56645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INCERTIDUMBRE DEL MODELO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585245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3000" i="0" u="none">
                <a:solidFill>
                  <a:srgbClr val="0F172A"/>
                </a:solidFill>
                <a:latin typeface="Plus Jakarta Sans"/>
              </a:rPr>
              <a:t>± 1.92 días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3395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Δt = S_y/x / S'(t*) = 0.927 / 3.374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4356645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4748B"/>
                </a:solidFill>
                <a:latin typeface="Plus Jakarta Sans"/>
              </a:rPr>
              <a:t>REGRESIÓN VS. TRAZADORA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4585245"/>
            <a:ext cx="3810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b="1" sz="3000" i="0" u="none">
                <a:solidFill>
                  <a:srgbClr val="0284C7"/>
                </a:solidFill>
                <a:latin typeface="Plus Jakarta Sans"/>
              </a:rPr>
              <a:t>2.77 días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5023395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34155"/>
                </a:solidFill>
                <a:latin typeface="Plus Jakarta Sans"/>
              </a:rPr>
              <a:t>Supera Δt: se adopta la trazadora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895975"/>
            <a:ext cx="5334000" cy="504825"/>
          </a:xfrm>
          <a:prstGeom prst="roundRect">
            <a:avLst>
              <a:gd name="adj" fmla="val 22641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5895975"/>
            <a:ext cx="5334000" cy="504825"/>
          </a:xfrm>
          <a:prstGeom prst="roundRect">
            <a:avLst>
              <a:gd name="adj" fmla="val 2264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65883"/>
            <a:ext cx="10363200" cy="2857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8548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7C3AED"/>
                </a:solidFill>
                <a:latin typeface="Plus Jakarta Sans"/>
              </a:rPr>
              <a:t>GENERALIZACIÓN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66750"/>
            <a:ext cx="8976121" cy="38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b="1" sz="2550" i="0" u="none">
                <a:solidFill>
                  <a:srgbClr val="0F172A"/>
                </a:solidFill>
                <a:latin typeface="Space Grotesk"/>
              </a:rPr>
              <a:t>¿Sirve para Cualquier Canción? 3 Casos Reales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6048375"/>
            <a:ext cx="6191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B21A8"/>
                </a:solidFill>
                <a:latin typeface="Plus Jakarta Sans"/>
              </a:rPr>
              <a:t>Resurgimiento (a negativo): el modelo detecta el pico de demanda.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8900" y="6048375"/>
            <a:ext cx="5753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Plus Jakarta Sans"/>
              </a:rPr>
              <a:t>Estrenos (a positivo): la inflexión es un mínimo, no aplica.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207008"/>
            <a:ext cx="153619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B5CF6"/>
                </a:solidFill>
                <a:latin typeface="Plus Jakarta Sans"/>
              </a:rPr>
              <a:t>Streams semanales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79" y="1207008"/>
            <a:ext cx="170078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D28D9"/>
                </a:solidFill>
                <a:latin typeface="Plus Jakarta Sans"/>
              </a:rPr>
              <a:t>Derivada del modelo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