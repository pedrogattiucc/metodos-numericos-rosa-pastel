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BDD7EE"/>
                </a:solidFill>
                <a:latin typeface="Calibri"/>
              </a:defRPr>
            </a:pPr>
            <a:r>
              <a:t>UNIVERSIDAD CATÓLICA DE CÓRDOBA · FACULTAD DE INGENIERÍA</a:t>
            </a:r>
          </a:p>
          <a:p>
            <a:pPr>
              <a:spcAft>
                <a:spcPts val="160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Modelado Numérico del Resurgimiento de 'Rosa Pastel' en Spotify México (2023)</a:t>
            </a:r>
          </a:p>
          <a:p>
            <a:pPr>
              <a:spcAft>
                <a:spcPts val="4000"/>
              </a:spcAft>
              <a:defRPr sz="1500" i="1">
                <a:solidFill>
                  <a:srgbClr val="F2F2F2"/>
                </a:solidFill>
                <a:latin typeface="Calibri"/>
              </a:defRPr>
            </a:pPr>
            <a:r>
              <a:t>Ajuste de Curvas (Mínimos Cuadrados), Búsqueda de Raíces (Bisección vs. Newton-Raphson) y Diferenciación Numérica</a:t>
            </a:r>
          </a:p>
          <a:p>
            <a:pPr>
              <a:defRPr sz="1300">
                <a:solidFill>
                  <a:srgbClr val="DCDCDC"/>
                </a:solidFill>
                <a:latin typeface="Calibri"/>
              </a:defRPr>
            </a:pPr>
            <a:r>
              <a:t>Autores: Pedro Gatti · Facundo Grillo · Gonzalo Marin   |   Docente: Ing. Carlos Arnaudo</a:t>
            </a:r>
            <a:br/>
            <a:r>
              <a:t>Ingeniería Informática   ·   Comisión 46324   ·  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CONTEXTO Y JUSTIFICACIÓN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El fenómeno de 'Rosa Pastel' y su relevancia en Ingeniería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700" b="1">
                <a:solidFill>
                  <a:srgbClr val="1F4E79"/>
                </a:solidFill>
              </a:defRPr>
            </a:pPr>
            <a:r>
              <a:t>El caso 'Rosa Pastel' (Belanova)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Canción electropop mexicana lanzada como sencillo en 2006 (álbum Dulce Beat).</a:t>
            </a:r>
            <a:br/>
            <a:br/>
            <a:r>
              <a:t>• En 2023 experimentó un fuerte resurgimiento en plataformas de streaming a partir de un trend masivo en TikTok ('sueños frustrados', julio 2023).</a:t>
            </a:r>
            <a:br/>
            <a:br/>
            <a:r>
              <a:t>• En Spotify México las reproducciones semanales pasaron de 1.1 M a un pico de 4.17 M en julio.</a:t>
            </a:r>
            <a:br/>
            <a:br/>
            <a:r>
              <a:t>• El volumen total acumulado a lo largo de 2023 llegó a 132,9 millones de reproducciones en el mercado mexicano.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700" b="1">
                <a:solidFill>
                  <a:srgbClr val="1F4E79"/>
                </a:solidFill>
              </a:defRPr>
            </a:pPr>
            <a:r>
              <a:t>Relevancia en Ingeniería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Plataformas de streaming: Modelar cuantitativamente la evolución temporal de la demanda permite anticipar picos de consumo.</a:t>
            </a:r>
            <a:br/>
            <a:br/>
            <a:r>
              <a:t>• Infraestructura cloud y redes CDN: Estimar ritmos de crecimiento ayuda a dimensionar preventivamente servidores y servicios de distribución de contenido.</a:t>
            </a:r>
            <a:br/>
            <a:br/>
            <a:r>
              <a:t>• Naturaleza de los datos: Las mediciones de telemetría son discretas (semanales) y presentan variaciones naturales.</a:t>
            </a:r>
            <a:br/>
            <a:br/>
            <a:r>
              <a:t>• Rol de los métodos numéricos: Brindan el marco formal para deducir un modelo analítico continuo, localizar hitos acumulados y calcular tasas de cambio instantáneas.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DATOS EXPERIMENTALES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Datos Reales: 47 Semanas de Spotify México en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F4E79"/>
                </a:solidFill>
              </a:defRPr>
            </a:pPr>
            <a:r>
              <a:t>Serie Temporal de Telemetría: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Fuente oficial: kworb.net (track 6Z0ybnsUBhbZ9ZjPW64eoF), que recopila los charts semanales del Top 200 de Spotify México.</a:t>
            </a:r>
            <a:br/>
            <a:br/>
            <a:r>
              <a:t>• Alcance: Exclusivamente streams de Spotify México en el Top 200 semanal oficial.</a:t>
            </a:r>
            <a:br/>
            <a:br/>
            <a:r>
              <a:t>• Rango: 47 semanas consecutivas de 2023 (t = 0 al 26/01/2023 hasta t = 46 al 14/12/2023).</a:t>
            </a:r>
            <a:br/>
            <a:br/>
            <a:r>
              <a:t>• Acumulado anual: 132,9 millones de streams.</a:t>
            </a:r>
            <a:br/>
            <a:br/>
            <a:r>
              <a:t>• Hito de 100M: Cruzado entre la semana 35 (99.60 M) y la semana 36 (102.74 M), fines de septiembre de 2023.</a:t>
            </a:r>
          </a:p>
        </p:txBody>
      </p:sp>
      <p:pic>
        <p:nvPicPr>
          <p:cNvPr id="4" name="Picture 3" descr="grafico_1_ajuste_curva_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3511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REGRESIÓN POLINÓMICA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Método 1: Ajuste de Curvas por Mínimos Cuadrados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800" b="1">
                <a:solidFill>
                  <a:srgbClr val="1F4E79"/>
                </a:solidFill>
              </a:defRPr>
            </a:pPr>
            <a:r>
              <a:t>Modelo Continuo Cúbico: S(t) = a·t³ + b·t² + c·t + d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Justificación del grado 3: Permite capturar la concavidad positiva inicial (aceleración por el trend de TikTok) y la posterior concavidad negativa (inflexión y estabilización hacia fin de año).</a:t>
            </a:r>
            <a:br/>
            <a:br/>
            <a:r>
              <a:t>Coeficientes obtenidos (Mínimos Cuadrados sobre 47 semanas):</a:t>
            </a:r>
            <a:br/>
            <a:r>
              <a:t>   a = -0.000839  |  b = 0.076977  |  c = 1.081162  |  d = 2.072898</a:t>
            </a:r>
            <a:br/>
            <a:br/>
            <a:r>
              <a:t>Ecuación del modelo ajustado:</a:t>
            </a:r>
            <a:br/>
            <a:r>
              <a:t>   S(t) = -0.000839·t³ + 0.076977·t² + 1.081162·t + 2.072898</a:t>
            </a:r>
            <a:br/>
            <a:br/>
            <a:r>
              <a:t>Evaluación estadística de la bondad de ajuste:</a:t>
            </a:r>
            <a:br/>
            <a:r>
              <a:t>   • Suma de cuadrados de los residuos: Sr = 36.9406</a:t>
            </a:r>
            <a:br/>
            <a:r>
              <a:t>   • Suma total de cuadrados respecto a la media: St = 79,137.5830</a:t>
            </a:r>
            <a:br/>
            <a:r>
              <a:t>   • Coeficiente de determinación: R² = 0.999533 (99.95% de la varianza explicada)</a:t>
            </a:r>
            <a:br/>
            <a:r>
              <a:t>   • Error estándar de la estimación: Sy/x = 0.9269 millones de streams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BÚSQUEDA DE RAÍCES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Método 2: Búsqueda de Raíces — El Hito de 100 Millones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700" b="1">
                <a:solidFill>
                  <a:srgbClr val="1F4E79"/>
                </a:solidFill>
              </a:defRPr>
            </a:pPr>
            <a:r>
              <a:t>Planteo del Problema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Se busca determinar la semana t* en que la canción superó 100 millones de streams en Spotify México:</a:t>
            </a:r>
            <a:br/>
            <a:br/>
            <a:r>
              <a:t>f(t) = S(t) - 100.0 = 0</a:t>
            </a:r>
            <a:br/>
            <a:br/>
            <a:r>
              <a:t>f(t) = -0.000839·t³ + 0.076977·t² + 1.081162·t - 97.927102 = 0</a:t>
            </a:r>
            <a:br/>
            <a:br/>
            <a:r>
              <a:t>Condición de parada exigida:</a:t>
            </a:r>
            <a:br/>
            <a:r>
              <a:t>|Ea%| &lt; 10⁻⁴ %  (0.0001% de error relativo)</a:t>
            </a:r>
            <a:br/>
            <a:br/>
            <a:r>
              <a:t>Intervalo inicial [35, 36]:</a:t>
            </a:r>
            <a:br/>
            <a:r>
              <a:t>• Datos: S(35) = 99.60 M &lt; 100 &lt; S(36) = 102.74 M</a:t>
            </a:r>
            <a:br/>
            <a:r>
              <a:t>• Modelo: f(35) = -1.7584 &lt; 0,  f(36) = +1.6162 &gt; 0</a:t>
            </a:r>
            <a:br/>
            <a:r>
              <a:t>• Hay cambio de signo (Bolzano).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700" b="1">
                <a:solidFill>
                  <a:srgbClr val="1F4E79"/>
                </a:solidFill>
              </a:defRPr>
            </a:pPr>
            <a:r>
              <a:t>Resultados Comparados</a:t>
            </a:r>
          </a:p>
          <a:p>
            <a:pPr>
              <a:defRPr sz="1200">
                <a:solidFill>
                  <a:srgbClr val="282828"/>
                </a:solidFill>
              </a:defRPr>
            </a:pPr>
            <a:r>
              <a:t>1. Método de Bisección (Método Cerrado):</a:t>
            </a:r>
            <a:br/>
            <a:r>
              <a:t>• Intervalo inicial: [35.0, 36.0]</a:t>
            </a:r>
            <a:br/>
            <a:r>
              <a:t>• Convergencia lineal (factor 0.5 por paso).</a:t>
            </a:r>
            <a:br/>
            <a:r>
              <a:t>• 15 iteraciones requeridas.</a:t>
            </a:r>
            <a:br/>
            <a:r>
              <a:t>• Raíz hallada: t* = 35.520172 semanas.</a:t>
            </a:r>
            <a:br/>
            <a:br/>
            <a:r>
              <a:t>2. Método de Newton-Raphson (Método Abierto):</a:t>
            </a:r>
            <a:br/>
            <a:r>
              <a:t>• Estimación inicial: t₀ = 35.0 semanas.</a:t>
            </a:r>
            <a:br/>
            <a:r>
              <a:t>• Derivada f'(t) = -0.002517·t² + 0.153954·t + 1.081162</a:t>
            </a:r>
            <a:br/>
            <a:r>
              <a:t>• Convergencia cuadrática.</a:t>
            </a:r>
            <a:br/>
            <a:r>
              <a:t>• 3 iteraciones requeridas (5 veces más rápido).</a:t>
            </a:r>
            <a:br/>
            <a:r>
              <a:t>• Raíz hallada: t* = 35.520148 semanas.</a:t>
            </a:r>
            <a:br/>
            <a:br/>
            <a:r>
              <a:t>Control por interpolación lineal: t = 35.127 sem.</a:t>
            </a:r>
            <a:br/>
            <a:r>
              <a:t>Diferencia: 2.75 días (error de ajuste ±0.93 M).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CONVERGENCIA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Comparativa: Bisección (Lineal) vs. Newton-Raphson (Cuadrática)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F4E79"/>
                </a:solidFill>
              </a:defRPr>
            </a:pPr>
            <a:r>
              <a:t>Análisis de Convergencia: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Bisección: 15 iteraciones.</a:t>
            </a:r>
            <a:br/>
            <a:r>
              <a:t>  - Método cerrado, muy robusto.</a:t>
            </a:r>
            <a:br/>
            <a:r>
              <a:t>  - Incondicionalmente convergente si Bolzano se cumple.</a:t>
            </a:r>
            <a:br/>
            <a:r>
              <a:t>  - Orden lineal: divide el intervalo a la mitad en cada ciclo.</a:t>
            </a:r>
            <a:br/>
            <a:br/>
            <a:r>
              <a:t>• Newton-Raphson: 3 iteraciones.</a:t>
            </a:r>
            <a:br/>
            <a:r>
              <a:t>  - Método abierto por tangentes sucesivas.</a:t>
            </a:r>
            <a:br/>
            <a:r>
              <a:t>  - Orden cuadrático: duplica aproximadamente los dígitos exactos en cada paso.</a:t>
            </a:r>
            <a:br/>
            <a:r>
              <a:t>  - Requiere derivada analítica y una buena aproximación inicial.</a:t>
            </a:r>
            <a:br/>
            <a:br/>
            <a:r>
              <a:t>• Coincidencia en la raíz: t* ≈ 35.520 semanas.</a:t>
            </a:r>
            <a:br/>
            <a:r>
              <a:t>  - Fecha estimada: fines de septiembre / 1 de octubre de 2023.</a:t>
            </a:r>
          </a:p>
        </p:txBody>
      </p:sp>
      <p:pic>
        <p:nvPicPr>
          <p:cNvPr id="4" name="Picture 3" descr="grafico_2_convergencia_biseccion_vs_new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35112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DIFERENCIACIÓN NUMÉRICA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Método 3: Diferenciación Numérica y Pico de Demanda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F4E79"/>
                </a:solidFill>
              </a:defRPr>
            </a:pPr>
            <a:r>
              <a:t>Ritmo Semanal de Streams (dS/dt):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• Esquemas de diferencias finitas (h = 1 semana):</a:t>
            </a:r>
            <a:br/>
            <a:r>
              <a:t>  - Adelante y atrás: error O(h).</a:t>
            </a:r>
            <a:br/>
            <a:r>
              <a:t>  - Centrada: error O(h²), mejor aproximación teórica.</a:t>
            </a:r>
            <a:br/>
            <a:br/>
            <a:r>
              <a:t>• Pico según el modelo (S''(t) = 0):</a:t>
            </a:r>
            <a:br/>
            <a:r>
              <a:t>  - t_pico = -b / (3a) = 30.59 semanas (fines de agosto 2023).</a:t>
            </a:r>
            <a:br/>
            <a:r>
              <a:t>  - Ritmo del modelo: 3.436 M streams/semana.</a:t>
            </a:r>
            <a:br/>
            <a:br/>
            <a:r>
              <a:t>• Pico real en los datos observados:</a:t>
            </a:r>
            <a:br/>
            <a:r>
              <a:t>  - Semana 26 (27/07/2023): 4.171 M streams.</a:t>
            </a:r>
            <a:br/>
            <a:r>
              <a:t>  - Coincide con el auge de TikTok de julio 2023.</a:t>
            </a:r>
            <a:br/>
            <a:br/>
            <a:r>
              <a:t>• Efecto de suavizado del modelo:</a:t>
            </a:r>
            <a:br/>
            <a:r>
              <a:t>  - El polinomio cúbico desplaza el pico ~4 semanas y atenúa su valor.</a:t>
            </a:r>
          </a:p>
        </p:txBody>
      </p:sp>
      <p:pic>
        <p:nvPicPr>
          <p:cNvPr id="4" name="Picture 3" descr="grafico_3_derivada_tasa_vir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45920"/>
            <a:ext cx="5852160" cy="35112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ANÁLISIS CRÍTICO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Limitaciones del Modelo Numérico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600"/>
              </a:spcAft>
              <a:defRPr sz="1400" b="1">
                <a:solidFill>
                  <a:srgbClr val="1F4E79"/>
                </a:solidFill>
              </a:defRPr>
            </a:pPr>
            <a:r>
              <a:t>1. Discrepancia con Datos Puntuales</a:t>
            </a:r>
          </a:p>
          <a:p>
            <a:pPr>
              <a:defRPr sz="1150">
                <a:solidFill>
                  <a:srgbClr val="282828"/>
                </a:solidFill>
              </a:defRPr>
            </a:pPr>
            <a:r>
              <a:t>La cúbica por mínimos cuadrados no pasa exactamente por los puntos. Por eso la raíz del modelo (t = 35.52) difiere ~2.75 días de la interpolación lineal directa entre las semanas 35 y 36 (t = 35.13).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45920"/>
            <a:ext cx="512064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600"/>
              </a:spcAft>
              <a:defRPr sz="1400" b="1">
                <a:solidFill>
                  <a:srgbClr val="1F4E79"/>
                </a:solidFill>
              </a:defRPr>
            </a:pPr>
            <a:r>
              <a:t>2. Suavizado del Pico de Demanda</a:t>
            </a:r>
          </a:p>
          <a:p>
            <a:pPr>
              <a:defRPr sz="1150">
                <a:solidFill>
                  <a:srgbClr val="282828"/>
                </a:solidFill>
              </a:defRPr>
            </a:pPr>
            <a:r>
              <a:t>Al ajustar un único polinomio para 47 semanas, el modelo atenúa los cambios bruscos: desplaza el pico de la semana 26 a la semana 30.6 y subestima su magnitud máxima (3.44 vs. 4.17 M streams/sem).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600"/>
              </a:spcAft>
              <a:defRPr sz="1400" b="1">
                <a:solidFill>
                  <a:srgbClr val="1F4E79"/>
                </a:solidFill>
              </a:defRPr>
            </a:pPr>
            <a:r>
              <a:t>3. Alcance de los Datos Relevados</a:t>
            </a:r>
          </a:p>
          <a:p>
            <a:pPr>
              <a:defRPr sz="1150">
                <a:solidFill>
                  <a:srgbClr val="282828"/>
                </a:solidFill>
              </a:defRPr>
            </a:pPr>
            <a:r>
              <a:t>Los datos cubren únicamente los charts semanales del Top 200 de Spotify México (kworb.net). No contemplan otras plataformas (YouTube, Apple Music), otros países ni escuchas fuera del chart.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14800"/>
            <a:ext cx="5120640" cy="219456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600"/>
              </a:spcAft>
              <a:defRPr sz="1400" b="1">
                <a:solidFill>
                  <a:srgbClr val="1F4E79"/>
                </a:solidFill>
              </a:defRPr>
            </a:pPr>
            <a:r>
              <a:t>4. Imposibilidad de Extrapolación</a:t>
            </a:r>
          </a:p>
          <a:p>
            <a:pPr>
              <a:defRPr sz="1150">
                <a:solidFill>
                  <a:srgbClr val="282828"/>
                </a:solidFill>
              </a:defRPr>
            </a:pPr>
            <a:r>
              <a:t>El modelo cúbico solo es válido dentro del rango de 2023 (t ∈ [0, 46]). Dado que su coeficiente cúbico es negativo (a = -0.000839), extrapolar fuera del año haría tender los streams acumulados a -∞.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1E63"/>
                </a:solidFill>
                <a:latin typeface="Calibri"/>
              </a:defRPr>
            </a:pPr>
            <a:r>
              <a:t>SÍNTESIS FINAL</a:t>
            </a:r>
          </a:p>
          <a:p>
            <a:pPr>
              <a:defRPr sz="2300" b="1">
                <a:solidFill>
                  <a:srgbClr val="1F4E79"/>
                </a:solidFill>
                <a:latin typeface="Calibri"/>
              </a:defRPr>
            </a:pPr>
            <a:r>
              <a:t>Conclusiones del Proyecto Integrador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5F7FA"/>
          </a:solidFill>
          <a:ln>
            <a:solidFill>
              <a:srgbClr val="D9E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700" b="1">
                <a:solidFill>
                  <a:srgbClr val="1F4E79"/>
                </a:solidFill>
              </a:defRPr>
            </a:pPr>
            <a:r>
              <a:t>Principales Aprendizajes y Conclusiones:</a:t>
            </a:r>
          </a:p>
          <a:p>
            <a:pPr>
              <a:defRPr sz="1250">
                <a:solidFill>
                  <a:srgbClr val="282828"/>
                </a:solidFill>
              </a:defRPr>
            </a:pPr>
            <a:r>
              <a:t>1. Ajuste confiable: La regresión polinómica cúbica ofreció una muy buena aproximación global (R² = 0.9995, Sy/x = 0.927 M) para representar la acumulación de reproducciones a lo largo del año.</a:t>
            </a:r>
            <a:br/>
            <a:br/>
            <a:r>
              <a:t>2. Eficiencia comparada de raíces: Newton-Raphson demostró ser 5 veces más rápido que Bisección (3 iteraciones frente a 15) para alcanzar la tolerancia de 10⁻⁴ %, convergiendo a la misma raíz (t* ≈ 35.52 semanas).</a:t>
            </a:r>
            <a:br/>
            <a:br/>
            <a:r>
              <a:t>3. Validación del modelo: La discrepancia de 2.75 días respecto a la interpolación lineal directa confirma la coherencia física y estadística del ajuste dentro del error estándar.</a:t>
            </a:r>
            <a:br/>
            <a:br/>
            <a:r>
              <a:t>4. Dinámica del consumo: La diferenciación numérica reveló que el pico real de streams ocurrió en la semana 26 (fines de julio de 2023, 4.171 M), y evidenció cómo el modelo cúbico suaviza la respuesta temporal.</a:t>
            </a:r>
            <a:br/>
            <a:br/>
            <a:r>
              <a:t>5. Aporte a la ingeniería: El modelado numérico permite convertir datos discretos de telemetría en funciones continuas útiles para dimensionar infraestructura y servidores de streaming ante variaciones de demanda.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¡Muchas Gracias por su atención!</a:t>
            </a:r>
          </a:p>
          <a:p>
            <a:pPr>
              <a:spcAft>
                <a:spcPts val="3000"/>
              </a:spcAft>
              <a:defRPr sz="2400" b="1">
                <a:solidFill>
                  <a:srgbClr val="BDD7EE"/>
                </a:solidFill>
              </a:defRPr>
            </a:pPr>
            <a:r>
              <a:t>¿Preguntas o Consultas?</a:t>
            </a:r>
          </a:p>
          <a:p>
            <a:pPr>
              <a:defRPr sz="1500">
                <a:solidFill>
                  <a:srgbClr val="DCDCDC"/>
                </a:solidFill>
              </a:defRPr>
            </a:pPr>
            <a:r>
              <a:t>Pedro Gatti · Facundo Grillo · Gonzalo Marin</a:t>
            </a:r>
            <a:br/>
            <a:r>
              <a:t>Taller de Métodos Numéricos · UCC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