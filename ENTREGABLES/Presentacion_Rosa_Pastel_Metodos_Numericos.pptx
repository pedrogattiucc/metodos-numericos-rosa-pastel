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8" r:id="rId19"/>
    <p:sldId id="262" r:id="rId13"/>
    <p:sldId id="263" r:id="rId14"/>
    <p:sldId id="270" r:id="rId21"/>
    <p:sldId id="269" r:id="rId20"/>
    <p:sldId id="264" r:id="rId15"/>
    <p:sldId id="265" r:id="rId16"/>
    <p:sldId id="266" r:id="rId17"/>
    <p:sldId id="267" r:id="rId18"/>
  </p:sldIdLst>
  <p:sldSz cx="12192000" cy="6858000" type="screen4x3"/>
  <p:notesSz cx="6858000" cy="9144000"/>
  <p:embeddedFontLst>
    <p:embeddedFont>
      <p:font typeface="Space Grotesk"/>
      <p:bold r:id="rIdFont19"/>
    </p:embeddedFont>
    <p:embeddedFont>
      <p:font typeface="Plus Jakarta Sans"/>
      <p:regular r:id="rIdFont21"/>
      <p:bold r:id="rIdFont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Font19" Type="http://schemas.openxmlformats.org/officeDocument/2006/relationships/font" Target="fonts/bc8e50e3-0fd2-447f-b52f-5afa504d95b6.fntdata"/><Relationship Id="rIdFont20" Type="http://schemas.openxmlformats.org/officeDocument/2006/relationships/font" Target="fonts/94207462-1b32-4c5b-870f-854b3bbeadf7.fntdata"/><Relationship Id="rIdFont21" Type="http://schemas.openxmlformats.org/officeDocument/2006/relationships/font" Target="fonts/96ae087c-a567-45a7-a9db-da851427948f.fntdata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7.xml"/><Relationship Id="rId20" Type="http://schemas.openxmlformats.org/officeDocument/2006/relationships/slide" Target="slides/slide11.xml"/><Relationship Id="rId21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09600" y="5638800"/>
            <a:ext cx="10972800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5638800"/>
            <a:ext cx="109728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6643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230784"/>
            <a:ext cx="9701212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4"/>
              </a:lnSpc>
            </a:pPr>
            <a:r>
              <a:rPr b="1" sz="3900" i="0" u="none">
                <a:solidFill>
                  <a:srgbClr val="FFFFFF"/>
                </a:solidFill>
                <a:latin typeface="Space Grotesk"/>
              </a:rPr>
              <a:t>Modelado Numérico del Fenómeno </a:t>
            </a:r>
            <a:r>
              <a:rPr b="1" sz="3900" i="0" u="none">
                <a:solidFill>
                  <a:srgbClr val="FB7185"/>
                </a:solidFill>
                <a:latin typeface="Space Grotesk"/>
              </a:rPr>
              <a:t>'Rosa Pastel'</a:t>
            </a:r>
            <a:r>
              <a:rPr b="1" sz="3900" i="0" u="none">
                <a:solidFill>
                  <a:srgbClr val="FFFFFF"/>
                </a:solidFill>
                <a:latin typeface="Space Grotesk"/>
              </a:rPr>
              <a:t> en Spotify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541365"/>
            <a:ext cx="92392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b="0" sz="1500" i="0" u="none">
                <a:solidFill>
                  <a:srgbClr val="94A3B8"/>
                </a:solidFill>
                <a:latin typeface="Plus Jakarta Sans"/>
              </a:rPr>
              <a:t>Mínimos cuadrados con eliminación gaussiana, trazadora cúbica natural, Bisección vs. Newton-Raphson y diferenciación numérica sobre 47 semanas de datos reales.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6350" y="533400"/>
            <a:ext cx="1738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Ingeniería Informática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53700" y="533400"/>
            <a:ext cx="131445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4A3B8"/>
                </a:solidFill>
                <a:latin typeface="Plus Jakarta Sans"/>
              </a:rPr>
              <a:t>Comisión 46324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876925"/>
            <a:ext cx="445293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43F5E"/>
                </a:solidFill>
                <a:latin typeface="Plus Jakarta San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45293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 · Facundo Grillo · Gonzalo Marin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5275" y="5876925"/>
            <a:ext cx="36671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1" sz="1050" i="0" u="none">
                <a:solidFill>
                  <a:srgbClr val="94A3B8"/>
                </a:solidFill>
                <a:latin typeface="Plus Jakarta Sans"/>
              </a:rPr>
              <a:t>CÁTEDRA DE MÉTODOS NUMÉRICOS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5275" y="6105525"/>
            <a:ext cx="366712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b="0" sz="1350" i="0" u="none">
                <a:solidFill>
                  <a:srgbClr val="CBD5E1"/>
                </a:solidFill>
                <a:latin typeface="Plus Jakarta Sans"/>
              </a:rPr>
              <a:t>Docente: Ing. Carlos Arnaudo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251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3394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600" y="4537620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508795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3651795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200" y="4794795"/>
            <a:ext cx="1714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CONTEXTO Y CASO DE ESTUDIO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El Resurgimiento Viral de Belanova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80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Clásico Electropop (2006)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756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Lanzamiento original del disco Dulce Beat.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623220"/>
            <a:ext cx="6300787" cy="219075"/>
          </a:xfrm>
          <a:prstGeom prst="rect">
            <a:avLst/>
          </a:prstGeom>
          <a:noFill/>
        </p:spPr>
        <p:txBody>
          <a:bodyPr wrap="none" lIns="22860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Tendencia de TikTok (2023)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899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Se viralizó con el trend de los sueños frustrados.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766220"/>
            <a:ext cx="6300787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Space Grotesk"/>
              </a:rPr>
              <a:t>Demanda casi 4 veces mayor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42445"/>
            <a:ext cx="60007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De 1.1 M a pico de 4.17 M semanales en México.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324600" y="2142083"/>
            <a:ext cx="5257800" cy="1171575"/>
          </a:xfrm>
          <a:prstGeom prst="roundRect">
            <a:avLst>
              <a:gd name="adj" fmla="val 11382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24600" y="3504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324600" y="4647158"/>
            <a:ext cx="5257800" cy="952500"/>
          </a:xfrm>
          <a:prstGeom prst="roundRect">
            <a:avLst>
              <a:gd name="adj" fmla="val 1400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70620"/>
            <a:ext cx="5257800" cy="400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2399258"/>
            <a:ext cx="171450" cy="17145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200" y="3761333"/>
            <a:ext cx="219075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3200" y="4904333"/>
            <a:ext cx="133350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JUSTIFICACIÓN TÉCNICA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Pronóstico de demanda y dimensionamiento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2370683"/>
            <a:ext cx="5638800" cy="219075"/>
          </a:xfrm>
          <a:prstGeom prst="rect">
            <a:avLst/>
          </a:prstGeom>
          <a:noFill/>
        </p:spPr>
        <p:txBody>
          <a:bodyPr wrap="none" lIns="2476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Infraestructura y Redes CDN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2646908"/>
            <a:ext cx="48958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Dimensionar la red ante aumentos bruscos de demanda.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200" y="3732758"/>
            <a:ext cx="5638800" cy="219075"/>
          </a:xfrm>
          <a:prstGeom prst="rect">
            <a:avLst/>
          </a:prstGeom>
          <a:noFill/>
        </p:spPr>
        <p:txBody>
          <a:bodyPr wrap="none" lIns="295275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Naturaleza Discreta del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4008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Datos semanales, discretos y con variaciones.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875758"/>
            <a:ext cx="5638800" cy="219075"/>
          </a:xfrm>
          <a:prstGeom prst="rect">
            <a:avLst/>
          </a:prstGeom>
          <a:noFill/>
        </p:spPr>
        <p:txBody>
          <a:bodyPr wrap="none" lIns="20955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369A1"/>
                </a:solidFill>
                <a:latin typeface="Space Grotesk"/>
              </a:rPr>
              <a:t>Aporte Numérico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200" y="5151983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Un modelo continuo para estimar fechas, ritmos y capacidad.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45840"/>
            <a:ext cx="10972800" cy="4802534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23033"/>
            <a:ext cx="10363200" cy="304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6200775"/>
            <a:ext cx="72237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Fuente: </a:t>
            </a:r>
            <a:r>
              <a:rPr b="1" sz="1200" i="0" u="none">
                <a:solidFill>
                  <a:srgbClr val="0F172A"/>
                </a:solidFill>
                <a:latin typeface="Plus Jakarta Sans"/>
              </a:rPr>
              <a:t>kworb.net (charts de Spotify México, Top 200)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4850" y="6200775"/>
            <a:ext cx="38671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475569"/>
                </a:solidFill>
                <a:latin typeface="Plus Jakarta Sans"/>
              </a:rPr>
              <a:t>Acumulado 26/01-14/12/2023: </a:t>
            </a:r>
            <a:r>
              <a:rPr b="1" sz="1200" i="0" u="none">
                <a:solidFill>
                  <a:srgbClr val="E11D48"/>
                </a:solidFill>
                <a:latin typeface="Plus Jakarta Sans"/>
              </a:rPr>
              <a:t>132.9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881062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66750"/>
            <a:ext cx="9251156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47 semanas de streams en Spotify México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883890"/>
            <a:ext cx="11247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Datos reales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1432" y="883890"/>
            <a:ext cx="120700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F172A"/>
                </a:solidFill>
                <a:latin typeface="Plus Jakarta Sans"/>
              </a:rPr>
              <a:t>Ajuste cúbico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883890"/>
            <a:ext cx="877824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D9488"/>
                </a:solidFill>
                <a:latin typeface="Plus Jakarta Sans"/>
              </a:rPr>
              <a:t>Trazadora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Ajuste de Curvas por Mínimos Cuadrados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MODELO CONTINUO CÚBICO OBTENIDO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1931640"/>
            <a:ext cx="112014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50" i="0" u="none">
                <a:solidFill>
                  <a:srgbClr val="F8FAFC"/>
                </a:solidFill>
                <a:latin typeface="Space Grotesk"/>
              </a:rPr>
              <a:t>S(t) = -0.000839 · t³ + 0.076977 · t² + 1.081162 · t + 2.072898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407890"/>
            <a:ext cx="11201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Plus Jakarta Sans"/>
              </a:rPr>
              <a:t>Permite representar la concavidad de aceleración inicial y la posterior estabilización anual.</a:t>
            </a:r>
          </a:p>
        </p:txBody>
      </p:sp>
      <p:sp>
        <p:nvSpPr>
          <p:cNvPr id="40" name="Gauss"/>
          <p:cNvSpPr txBox="1"/>
          <p:nvPr/>
        </p:nvSpPr>
        <p:spPr>
          <a:xfrm>
            <a:off x="612648" y="3200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Plus Jakarta Sans"/>
              </a:rPr>
              <a:t>Las ecuaciones normales (sistema 4×4) se resolvieron con eliminación gaussiana programada a mano: triangulación y sustitución hacia atrás. Los coeficientes coinciden con NumPy hasta 10⁻¹².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BONDAD DE AJUSTE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99.95%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R² = 0.999533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ERROR ESTÁNDAR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0.927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S_y/x de estimación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SUMA DE CUADRADOS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36.94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S_r de los residuos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537370"/>
            <a:ext cx="5334000" cy="289560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2532608"/>
            <a:ext cx="5334000" cy="2905125"/>
          </a:xfrm>
          <a:prstGeom prst="roundRect">
            <a:avLst>
              <a:gd name="adj" fmla="val 5245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4766220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53200" y="4770983"/>
            <a:ext cx="4724400" cy="361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876800" y="2865983"/>
            <a:ext cx="762000" cy="247650"/>
          </a:xfrm>
          <a:prstGeom prst="roundRect">
            <a:avLst>
              <a:gd name="adj" fmla="val 30769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66220"/>
            <a:ext cx="47244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53700" y="2861220"/>
            <a:ext cx="723900" cy="247650"/>
          </a:xfrm>
          <a:prstGeom prst="roundRect">
            <a:avLst>
              <a:gd name="adj" fmla="val 30769"/>
            </a:avLst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53200" y="4770983"/>
            <a:ext cx="4724400" cy="9525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Determinación del Hito de 100 Millones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1112490"/>
            <a:ext cx="115824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Planteo de raíz f(t) = S(t) - 100 = 0 con tolerancia exigida |Ea%| &lt; 10⁻⁴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89845"/>
            <a:ext cx="59055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Intervalo inicial: 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>[35.0, 36.0]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94745"/>
            <a:ext cx="59055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Convergencia lineal estable con factor 0.5.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3285083"/>
            <a:ext cx="56388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Plus Jakarta Sans"/>
              </a:rPr>
              <a:t>Semilla inicial: </a:t>
            </a:r>
            <a:r>
              <a:rPr b="1" sz="1350" i="0" u="none">
                <a:solidFill>
                  <a:srgbClr val="334155"/>
                </a:solidFill>
                <a:latin typeface="Plus Jakarta Sans"/>
              </a:rPr>
              <a:t>t₀ = 35.0 semanas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4399508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Convergencia cuadrática acelerada por tangentes.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42170"/>
            <a:ext cx="143017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Bisección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1100" y="2904083"/>
            <a:ext cx="628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475569"/>
                </a:solidFill>
                <a:latin typeface="Plus Jakarta Sans"/>
              </a:rPr>
              <a:t>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661320"/>
            <a:ext cx="7524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284C7"/>
                </a:solidFill>
                <a:latin typeface="Plus Jakarta Sans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7325" y="3956595"/>
            <a:ext cx="1209675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64748B"/>
                </a:solidFill>
                <a:latin typeface="Plus Jakarta Sans"/>
              </a:rPr>
              <a:t>iteraciones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9095"/>
            <a:ext cx="59055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Plus Jakarta Sans"/>
              </a:rPr>
              <a:t>Raíz de la regresión: t* = 35.520172 semanas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0" y="2837408"/>
            <a:ext cx="2525315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BE123C"/>
                </a:solidFill>
                <a:latin typeface="Space Grotesk"/>
              </a:rPr>
              <a:t>Newton-Raphson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0" y="2899320"/>
            <a:ext cx="5905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9F1239"/>
                </a:solidFill>
                <a:latin typeface="Plus Jakarta Sans"/>
              </a:rPr>
              <a:t>Abierto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666083"/>
            <a:ext cx="561975" cy="581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E11D48"/>
                </a:solidFill>
                <a:latin typeface="Plus Jakarta San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5625" y="3961358"/>
            <a:ext cx="2643187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BE123C"/>
                </a:solidFill>
                <a:latin typeface="Plus Jakarta Sans"/>
              </a:rPr>
              <a:t>iteraciones (5× menos)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200" y="4913858"/>
            <a:ext cx="5638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9F1239"/>
                </a:solidFill>
                <a:latin typeface="Plus Jakarta Sans"/>
              </a:rPr>
              <a:t>Raíz de la regresión: t* = 35.520148 semanas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41090"/>
            <a:ext cx="10972800" cy="1571625"/>
          </a:xfrm>
          <a:prstGeom prst="roundRect">
            <a:avLst>
              <a:gd name="adj" fmla="val 9696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96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3434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77200" y="4128045"/>
            <a:ext cx="3505200" cy="1323975"/>
          </a:xfrm>
          <a:prstGeom prst="roundRect">
            <a:avLst>
              <a:gd name="adj" fmla="val 1007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MÉTODO NUMÉRICO 2 · CONTRASTE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Hito Adoptado: Trazadora e Incertidumbre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1645890"/>
            <a:ext cx="11201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FB7185"/>
                </a:solidFill>
                <a:latin typeface="Plus Jakarta Sans"/>
              </a:rPr>
              <a:t>HITO DE 100 M SEGÚN LA TRAZADORA CÚBICA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600" y="1931640"/>
            <a:ext cx="112014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950" i="0" u="none">
                <a:solidFill>
                  <a:srgbClr val="F8FAFC"/>
                </a:solidFill>
                <a:latin typeface="Space Grotesk"/>
              </a:rPr>
              <a:t>t* = 35.124 semanas  →  29 de septiembre de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2407890"/>
            <a:ext cx="112014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Plus Jakarta Sans"/>
              </a:rPr>
              <a:t>La trazadora pasa por los 47 datos medidos y coincide con la interpolación lineal de control (t = 35.127 semanas).</a:t>
            </a:r>
          </a:p>
        </p:txBody>
      </p:sp>
      <p:sp>
        <p:nvSpPr>
          <p:cNvPr id="41" name="Control"/>
          <p:cNvSpPr txBox="1"/>
          <p:nvPr/>
        </p:nvSpPr>
        <p:spPr>
          <a:xfrm>
            <a:off x="612648" y="3200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Plus Jakarta Sans"/>
              </a:rPr>
              <a:t>Control: interpolación lineal entre la semana 35 (99.602 M) y la 36 (102.738 M) da t = 35.127 semanas, a 0.4 horas de la trazadora. La regresión no pasa por esos puntos y ubica el cruce 2.77 días más tarde.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RAÍZ DE LA REGRESIÓN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E11D48"/>
                </a:solidFill>
                <a:latin typeface="Plus Jakarta Sans"/>
              </a:rPr>
              <a:t>35.520 sem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Bisección y Newton coinciden: 2 de octubre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INCERTIDUMBRE DEL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F172A"/>
                </a:solidFill>
                <a:latin typeface="Plus Jakarta Sans"/>
              </a:rPr>
              <a:t>± 1.92 días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Δt = S_y/x / S'(t*) = 0.927 / 3.374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4356645"/>
            <a:ext cx="38100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Plus Jakarta Sans"/>
              </a:rPr>
              <a:t>REGRESIÓN VS. TRAZADORA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5800" y="4585245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b="1" sz="3000" i="0" u="none">
                <a:solidFill>
                  <a:srgbClr val="0284C7"/>
                </a:solidFill>
                <a:latin typeface="Plus Jakarta Sans"/>
              </a:rPr>
              <a:t>2.77 días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5800" y="5023395"/>
            <a:ext cx="38100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34155"/>
                </a:solidFill>
                <a:latin typeface="Plus Jakarta Sans"/>
              </a:rPr>
              <a:t>Supera Δt: se adopta la trazadora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23033"/>
            <a:ext cx="10363200" cy="304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6200775"/>
            <a:ext cx="630936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284C7"/>
                </a:solidFill>
                <a:latin typeface="Plus Jakarta Sans"/>
              </a:rPr>
              <a:t>Bisección: Siempre converge si hay cambio de signo (15 iteraciones).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24700" y="6200775"/>
            <a:ext cx="50673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E11D48"/>
                </a:solidFill>
                <a:latin typeface="Plus Jakarta Sans"/>
              </a:rPr>
              <a:t>Newton-Raphson: Convergencia cuadrática en solo 3 pasos.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7012781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EFICIENCIA NUMÉRICA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736342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Convergencia: Lineal vs. Cuadrática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368" y="883890"/>
            <a:ext cx="2276856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0284C7"/>
                </a:solidFill>
                <a:latin typeface="Plus Jakarta Sans"/>
              </a:rPr>
              <a:t>Bisección (15 iteraciones)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0264" y="883890"/>
            <a:ext cx="2606039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Newton-Raphson (3 iteraciones)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895975"/>
            <a:ext cx="5334000" cy="504825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5895975"/>
            <a:ext cx="5334000" cy="504825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65883"/>
            <a:ext cx="10363200" cy="285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MÉTODO NUMÉRICO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Ritmo de Demanda y Diferenciación (dS/dt)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048375"/>
            <a:ext cx="61912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6B21A8"/>
                </a:solidFill>
                <a:latin typeface="Plus Jakarta Sans"/>
              </a:rPr>
              <a:t>Pico Real Observado: Semana 26 (4.171 M streams/semana)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8900" y="6048375"/>
            <a:ext cx="57531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991B1B"/>
                </a:solidFill>
                <a:latin typeface="Plus Jakarta Sans"/>
              </a:rPr>
              <a:t>Pico del Modelo Cúbico: Semana 30.59 (3.436 M streams/semana)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07008"/>
            <a:ext cx="219456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8B5CF6"/>
                </a:solidFill>
                <a:latin typeface="Plus Jakarta Sans"/>
              </a:rPr>
              <a:t>Streams semanales medidos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207008"/>
            <a:ext cx="219456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D28D9"/>
                </a:solidFill>
                <a:latin typeface="Plus Jakarta Sans"/>
              </a:rPr>
              <a:t>Derivada del modelo S'(t)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5895975"/>
            <a:ext cx="5334000" cy="504825"/>
          </a:xfrm>
          <a:prstGeom prst="roundRect">
            <a:avLst>
              <a:gd name="adj" fmla="val 22641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48400" y="5895975"/>
            <a:ext cx="5334000" cy="504825"/>
          </a:xfrm>
          <a:prstGeom prst="roundRect">
            <a:avLst>
              <a:gd name="adj" fmla="val 22641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65883"/>
            <a:ext cx="10363200" cy="2857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APLICACIÓN DE INGENIERÍA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Dimensionamiento: Ancho de Banda y Capacidad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6048375"/>
            <a:ext cx="619125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6B21A8"/>
                </a:solidFill>
                <a:latin typeface="Plus Jakarta Sans"/>
              </a:rPr>
              <a:t>Pico medido: 205 Mbps (410 en hora pico). Modelo: 169 Mbps.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38900" y="6048375"/>
            <a:ext cx="5753100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991B1B"/>
                </a:solidFill>
                <a:latin typeface="Plus Jakarta Sans"/>
              </a:rPr>
              <a:t>S'(t) = C con Bisección y Newton: del 2/06 al 23/11/2023.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207008"/>
            <a:ext cx="277063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8B5CF6"/>
                </a:solidFill>
                <a:latin typeface="Plus Jakarta Sans"/>
              </a:rPr>
              <a:t>Ancho de banda medido (160 kbps)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207008"/>
            <a:ext cx="1865376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D28D9"/>
                </a:solidFill>
                <a:latin typeface="Plus Jakarta Sans"/>
              </a:rPr>
              <a:t>Modelo: S'(t) en Mbps</a:t>
            </a:r>
          </a:p>
        </p:txBody>
      </p:sp>
      <p:sp>
        <p:nvSpPr>
          <p:cNvPr id="42" name="Supuestos"/>
          <p:cNvSpPr txBox="1"/>
          <p:nvPr/>
        </p:nvSpPr>
        <p:spPr>
          <a:xfrm>
            <a:off x="612648" y="5029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Plus Jakarta Sans"/>
              </a:rPr>
              <a:t>Supuestos: reproducción de 3:06 a 160 kbps (rango de 96 a 320 kbps), hora pico igual a 2 veces el promedio semanal y sin descontar las reproducciones guardadas en el dispositivo. Son órdenes de magnitud, no datos de Spotify. A 160 kbps, 100 M de reproducciones equivalen a unos 372 TB transferidos.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09600" y="457200"/>
            <a:ext cx="8548687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7C3AED"/>
                </a:solidFill>
                <a:latin typeface="Plus Jakarta Sans"/>
              </a:rPr>
              <a:t>GENERALIZACIÓN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66750"/>
            <a:ext cx="8976121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¿Sirve para Cualquier Canción? 3 Casos Reales</a:t>
            </a:r>
          </a:p>
        </p:txBody>
      </p:sp>
      <p:pic>
        <p:nvPicPr>
          <p:cNvPr id="11" name="Picture 10" descr="grafico_4_comparacion_can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417320"/>
            <a:ext cx="4152900" cy="4983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" y="1645920"/>
            <a:ext cx="63093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880" indent="-164592">
              <a:spcAft>
                <a:spcPts val="1800"/>
              </a:spcAft>
              <a:buChar char="•"/>
            </a:pPr>
            <a:r>
              <a:rPr b="0" sz="1800" i="0" u="none">
                <a:solidFill>
                  <a:srgbClr val="475569"/>
                </a:solidFill>
                <a:latin typeface="Plus Jakarta Sans"/>
              </a:rPr>
              <a:t>Cúbica global: S′ es una parábola simétrica; sirve si el pico está a mitad del período (a &lt; 0).</a:t>
            </a:r>
          </a:p>
          <a:p>
            <a:pPr marL="182880" indent="-164592">
              <a:spcAft>
                <a:spcPts val="1800"/>
              </a:spcAft>
              <a:buChar char="•"/>
            </a:pPr>
            <a:r>
              <a:rPr b="0" sz="1800" i="0" u="none">
                <a:solidFill>
                  <a:srgbClr val="475569"/>
                </a:solidFill>
                <a:latin typeface="Plus Jakarta Sans"/>
              </a:rPr>
              <a:t>Estrenos: pico en la semana 5–6 y cola larga → a &gt; 0, no hay máximo.</a:t>
            </a:r>
          </a:p>
          <a:p>
            <a:pPr marL="182880" indent="-164592">
              <a:spcAft>
                <a:spcPts val="1800"/>
              </a:spcAft>
              <a:buChar char="•"/>
            </a:pPr>
            <a:r>
              <a:rPr b="0" sz="1800" i="0" u="none">
                <a:solidFill>
                  <a:srgbClr val="475569"/>
                </a:solidFill>
                <a:latin typeface="Plus Jakarta Sans"/>
              </a:rPr>
              <a:t>Regresión local (±6 semanas alrededor del pico): a &lt; 0 en las 3 canciones; picos 28.6, 3.8 y 6.4.</a:t>
            </a:r>
          </a:p>
          <a:p>
            <a:pPr marL="182880" indent="-164592">
              <a:spcAft>
                <a:spcPts val="1800"/>
              </a:spcAft>
              <a:buChar char="•"/>
            </a:pPr>
            <a:r>
              <a:rPr b="0" sz="1800" i="0" u="none">
                <a:solidFill>
                  <a:srgbClr val="475569"/>
                </a:solidFill>
                <a:latin typeface="Plus Jakarta Sans"/>
              </a:rPr>
              <a:t>Mismo método y misma regla: la herramienta valida su modelo.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099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21030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10650" y="2880270"/>
            <a:ext cx="2571750" cy="2019300"/>
          </a:xfrm>
          <a:prstGeom prst="roundRect">
            <a:avLst>
              <a:gd name="adj" fmla="val 7547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46970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550" y="3146970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146970"/>
            <a:ext cx="381000" cy="3810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0" y="3146970"/>
            <a:ext cx="381000" cy="3810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75" y="3251745"/>
            <a:ext cx="1714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9512" y="3251745"/>
            <a:ext cx="219075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3675" y="3251745"/>
            <a:ext cx="171450" cy="1714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44025" y="3251745"/>
            <a:ext cx="171450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EVALUACIÓN TÉCNICA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Límites y Condiciones de Borde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3642270"/>
            <a:ext cx="2775346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Discrepancia Puntual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975645"/>
            <a:ext cx="2209800" cy="657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Regresión: 2.77 d del cruce medido, más que Δt = ±1.92 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8550" y="3642270"/>
            <a:ext cx="2775346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Suavizado del Pico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8550" y="3975645"/>
            <a:ext cx="2209800" cy="657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Atenúa el máximo un 18 % y lo desplaza 4.6 semanas.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42270"/>
            <a:ext cx="2775346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Alcance Muestral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75645"/>
            <a:ext cx="2209800" cy="657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Restringido exclusivamente al Top 200 de Spotify México.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9250" y="3642270"/>
            <a:ext cx="2775346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No Extrapolable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9250" y="3975645"/>
            <a:ext cx="2209800" cy="6572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Plus Jakarta Sans"/>
              </a:rPr>
              <a:t>El modelo pierde validez fuera del intervalo observado.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09600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6884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28099" y="1379190"/>
            <a:ext cx="3454449" cy="1266825"/>
          </a:xfrm>
          <a:prstGeom prst="roundRect">
            <a:avLst>
              <a:gd name="adj" fmla="val 1203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0300" y="4137570"/>
            <a:ext cx="53721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4137570"/>
            <a:ext cx="38100" cy="1076325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0300" y="4137570"/>
            <a:ext cx="38100" cy="107632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57200"/>
            <a:ext cx="11582400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E11D48"/>
                </a:solidFill>
                <a:latin typeface="Plus Jakarta Sans"/>
              </a:rPr>
              <a:t>SÍNTESIS DEL PROYECTO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85800"/>
            <a:ext cx="11582400" cy="388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60"/>
              </a:lnSpc>
            </a:pPr>
            <a:r>
              <a:rPr b="1" sz="2550" i="0" u="none">
                <a:solidFill>
                  <a:srgbClr val="0F172A"/>
                </a:solidFill>
                <a:latin typeface="Space Grotesk"/>
              </a:rPr>
              <a:t>Conclusiones y aplicación a la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1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E11D48"/>
                </a:solidFill>
                <a:latin typeface="Plus Jakarta Sans"/>
              </a:rPr>
              <a:t>99.95%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Varianza explicada por el ajuste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041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0284C7"/>
                </a:solidFill>
                <a:latin typeface="Plus Jakarta Sans"/>
              </a:rPr>
              <a:t>3 vs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041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Iteraciones: Newton-Raphson vs. Bisección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29668" y="1645890"/>
            <a:ext cx="3651312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16A34A"/>
                </a:solidFill>
                <a:latin typeface="Plus Jakarta Sans"/>
              </a:rPr>
              <a:t>29/09/2023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9668" y="2179290"/>
            <a:ext cx="3651312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200" i="0" u="none">
                <a:solidFill>
                  <a:srgbClr val="475569"/>
                </a:solidFill>
                <a:latin typeface="Plus Jakarta Sans"/>
              </a:rPr>
              <a:t>Hito de 100 M (trazadora, ±2 días)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300" y="4328070"/>
            <a:ext cx="6400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Modelado continuo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La regresión capta la tendencia, la trazadora respeta los datos y Δt cuantifica el error.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7000" y="4328070"/>
            <a:ext cx="57150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Previsión de Servidores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4585245"/>
            <a:ext cx="497205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Pico de 205 Mbps a 160 kbps y 372 TB transferidos al llegar a 100 M de streams.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2900000"/>
            <a:ext cx="10972800" cy="1076325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2900000"/>
            <a:ext cx="38100" cy="107632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3090500"/>
            <a:ext cx="1057280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Space Grotesk"/>
              </a:rPr>
              <a:t>Método generalizable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300" y="3347675"/>
            <a:ext cx="105728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Plus Jakarta Sans"/>
              </a:rPr>
              <a:t>La cúbica local (±6 semanas alrededor del pico) detecta el pico en las 3 canciones, y la regla a &lt; 0 avisa cuándo el ajuste global no sirve.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581400" y="4007048"/>
            <a:ext cx="5029200" cy="600075"/>
          </a:xfrm>
          <a:prstGeom prst="roundRect">
            <a:avLst>
              <a:gd name="adj" fmla="val 2222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9562" y="1812577"/>
            <a:ext cx="3952875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050" i="0" u="none">
                <a:solidFill>
                  <a:srgbClr val="FB7185"/>
                </a:solidFill>
                <a:latin typeface="Plus Jakarta Sans"/>
              </a:rPr>
              <a:t>TALLER DE MÉTODOS NUMÉRICOS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4339" y="2136427"/>
            <a:ext cx="6563320" cy="670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b="1" sz="4800" i="0" u="none">
                <a:solidFill>
                  <a:srgbClr val="FFFFFF"/>
                </a:solidFill>
                <a:latin typeface="Space Grotesk"/>
              </a:rPr>
              <a:t>¡Muchas 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6468" y="2997398"/>
            <a:ext cx="7739062" cy="628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94A3B8"/>
                </a:solidFill>
                <a:latin typeface="Plus Jakarta Sans"/>
              </a:rPr>
              <a:t>¿Preguntas?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93343" y="4873823"/>
            <a:ext cx="4405312" cy="171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0" sz="1050" i="0" u="none">
                <a:solidFill>
                  <a:srgbClr val="64748B"/>
                </a:solidFill>
                <a:latin typeface="Plus Jakarta Sans"/>
              </a:rPr>
              <a:t>Universidad Católica de Córdoba · Facultad de Ingeniería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81425" y="4197548"/>
            <a:ext cx="1238250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Pedro Gatti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30415" y="4197548"/>
            <a:ext cx="1512093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Facundo Grillo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678" y="4197548"/>
            <a:ext cx="1464468" cy="2190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b="1" sz="1350" i="0" u="none">
                <a:solidFill>
                  <a:srgbClr val="E2E8F0"/>
                </a:solidFill>
                <a:latin typeface="Plus Jakarta Sans"/>
              </a:rPr>
              <a:t>Gonzalo Marin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86677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162877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965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8117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50268" cy="295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F8FAFC"/>
                </a:solidFill>
                <a:latin typeface="Space Grotesk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47750"/>
            <a:ext cx="6965156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https://www.musicconnection.com/wp-content/uploads/2024/04/2V7A2667-620x420.jpg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47775"/>
            <a:ext cx="3309937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www.musicconnection.com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19275"/>
            <a:ext cx="6274593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F8FAFC"/>
                </a:solidFill>
                <a:latin typeface="Plus Jakarta Sans"/>
              </a:rPr>
              <a:t>https://stagsterlabs.com/images/capabilities/cloud-hosting-websites-mobile.png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19300"/>
            <a:ext cx="2345531" cy="2000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F8FAFC"/>
                </a:solidFill>
                <a:latin typeface="Plus Jakarta Sans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Plus Jakarta Sans"/>
              </a:rPr>
              <a:t>stagsterlabs.com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