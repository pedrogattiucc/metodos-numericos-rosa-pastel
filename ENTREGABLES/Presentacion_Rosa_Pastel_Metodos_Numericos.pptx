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1" r:id="rId6"/>
    <p:sldId id="260" r:id="rId7"/>
    <p:sldId id="261" r:id="rId8"/>
    <p:sldId id="262" r:id="rId9"/>
    <p:sldId id="270" r:id="rId10"/>
    <p:sldId id="269" r:id="rId11"/>
    <p:sldId id="264" r:id="rId12"/>
    <p:sldId id="265" r:id="rId13"/>
    <p:sldId id="266" r:id="rId14"/>
    <p:sldId id="267" r:id="rId15"/>
  </p:sldIdLst>
  <p:sldSz cx="12192000" cy="6858000"/>
  <p:notesSz cx="6858000" cy="9144000"/>
  <p:embeddedFontLst>
    <p:embeddedFont>
      <p:font typeface="Plus Jakarta Sans"/>
      <p:regular r:id="rId16"/>
      <p:bold r:id="rId17"/>
    </p:embeddedFont>
    <p:embeddedFont>
      <p:font typeface="Space Grotesk"/>
      <p:bold r:id="rId1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 snapToObjects="1">
      <p:cViewPr>
        <p:scale>
          <a:sx n="112" d="100"/>
          <a:sy n="112" d="100"/>
        </p:scale>
        <p:origin x="768" y="3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5638800"/>
            <a:ext cx="109728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5638800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533400"/>
            <a:ext cx="66436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43F5E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30784"/>
            <a:ext cx="9701212" cy="11391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sz="3900" b="1" i="0" u="none">
                <a:solidFill>
                  <a:srgbClr val="FFFFFF"/>
                </a:solidFill>
                <a:latin typeface="Space Grotesk"/>
              </a:rPr>
              <a:t>Modelado Numérico del Fenómeno </a:t>
            </a:r>
            <a:r>
              <a:rPr sz="3900" b="1" i="0" u="none">
                <a:solidFill>
                  <a:srgbClr val="FB7185"/>
                </a:solidFill>
                <a:latin typeface="Space Grotesk"/>
              </a:rPr>
              <a:t>'Rosa Pastel'</a:t>
            </a:r>
            <a:r>
              <a:rPr sz="3900" b="1" i="0" u="none">
                <a:solidFill>
                  <a:srgbClr val="FFFFFF"/>
                </a:solidFill>
                <a:latin typeface="Space Grotesk"/>
              </a:rPr>
              <a:t> en Spotify México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541365"/>
            <a:ext cx="92392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94A3B8"/>
                </a:solidFill>
                <a:latin typeface="Plus Jakarta Sans"/>
              </a:rPr>
              <a:t>Interpolación de Newton y Bisección vs. Newton-Raphson sobre 47 semanas de datos reales de Spotify México.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6350" y="533400"/>
            <a:ext cx="1738312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94A3B8"/>
                </a:solidFill>
                <a:latin typeface="Plus Jakarta Sans"/>
              </a:rPr>
              <a:t>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53700" y="533400"/>
            <a:ext cx="634789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>
                <a:solidFill>
                  <a:srgbClr val="94A3B8"/>
                </a:solidFill>
                <a:latin typeface="Plus Jakarta Sans"/>
              </a:rPr>
              <a:t>Comisión </a:t>
            </a:r>
            <a:r>
              <a:rPr lang="en-US" sz="1050" b="1" dirty="0">
                <a:solidFill>
                  <a:srgbClr val="94A3B8"/>
                </a:solidFill>
                <a:latin typeface="Plus Jakarta Sans"/>
              </a:rPr>
              <a:t>G</a:t>
            </a:r>
            <a:endParaRPr sz="1050" b="1" i="0" u="none" dirty="0">
              <a:solidFill>
                <a:srgbClr val="94A3B8"/>
              </a:solidFill>
              <a:latin typeface="Plus Jakarta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09600" y="5876925"/>
            <a:ext cx="445293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43F5E"/>
                </a:solidFill>
                <a:latin typeface="Plus Jakarta Sans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105525"/>
            <a:ext cx="4452937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E2E8F0"/>
                </a:solidFill>
                <a:latin typeface="Plus Jakarta Sans"/>
              </a:rPr>
              <a:t>Pedro Gatti · Facundo Grillo · Gonzalo Marin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5275" y="5876925"/>
            <a:ext cx="366712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050" b="1" i="0" u="none">
                <a:solidFill>
                  <a:srgbClr val="94A3B8"/>
                </a:solidFill>
                <a:latin typeface="Plus Jakarta Sans"/>
              </a:rPr>
              <a:t>CÁTEDRA DE MÉTODOS NUMÉRICOS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5275" y="6105525"/>
            <a:ext cx="366712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350" b="0" i="0" u="none">
                <a:solidFill>
                  <a:srgbClr val="CBD5E1"/>
                </a:solidFill>
                <a:latin typeface="Plus Jakarta Sans"/>
              </a:rPr>
              <a:t>Docente: Ing. Carlos Arnaudo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251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394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4537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508795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651795"/>
            <a:ext cx="152400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4794795"/>
            <a:ext cx="1714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11D48"/>
                </a:solidFill>
                <a:latin typeface="Plus Jakarta Sans"/>
              </a:rPr>
              <a:t>CONTEXTO Y CASO DE ESTUDIO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F172A"/>
                </a:solidFill>
                <a:latin typeface="Space Grotesk"/>
              </a:rPr>
              <a:t>El Resurgimiento Viral de Belanova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480220"/>
            <a:ext cx="6300787" cy="219075"/>
          </a:xfrm>
          <a:prstGeom prst="rect">
            <a:avLst/>
          </a:prstGeom>
          <a:noFill/>
        </p:spPr>
        <p:txBody>
          <a:bodyPr wrap="none" lIns="24765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BE123C"/>
                </a:solidFill>
                <a:latin typeface="Space Grotesk"/>
              </a:rPr>
              <a:t>Clásico Electropop (2006)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756445"/>
            <a:ext cx="600075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Plus Jakarta Sans"/>
              </a:rPr>
              <a:t>Lanzamiento original del disco Dulce Beat.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623220"/>
            <a:ext cx="6300787" cy="219075"/>
          </a:xfrm>
          <a:prstGeom prst="rect">
            <a:avLst/>
          </a:prstGeom>
          <a:noFill/>
        </p:spPr>
        <p:txBody>
          <a:bodyPr wrap="none" lIns="22860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BE123C"/>
                </a:solidFill>
                <a:latin typeface="Space Grotesk"/>
              </a:rPr>
              <a:t>Tendencia de TikTok (2023)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899445"/>
            <a:ext cx="600075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Plus Jakarta Sans"/>
              </a:rPr>
              <a:t>Se viralizó con el trend de los sueños frustrados.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766220"/>
            <a:ext cx="6300787" cy="219075"/>
          </a:xfrm>
          <a:prstGeom prst="rect">
            <a:avLst/>
          </a:prstGeom>
          <a:noFill/>
        </p:spPr>
        <p:txBody>
          <a:bodyPr wrap="none" lIns="24765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BE123C"/>
                </a:solidFill>
                <a:latin typeface="Space Grotesk"/>
              </a:rPr>
              <a:t>Demanda casi 4 veces mayor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042445"/>
            <a:ext cx="600075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Plus Jakarta Sans"/>
              </a:rPr>
              <a:t>De 1,1 M a pico de 4,17 M semanales en México.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324600" y="2142083"/>
            <a:ext cx="5257800" cy="1171575"/>
          </a:xfrm>
          <a:prstGeom prst="roundRect">
            <a:avLst>
              <a:gd name="adj" fmla="val 11382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324600" y="3504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24600" y="4647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399258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200" y="3761333"/>
            <a:ext cx="219075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4904333"/>
            <a:ext cx="1333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JUSTIFICACIÓN 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F172A"/>
                </a:solidFill>
                <a:latin typeface="Space Grotesk"/>
              </a:rPr>
              <a:t>Pronóstico de demanda y dimensionamiento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0" y="2370683"/>
            <a:ext cx="5638800" cy="219075"/>
          </a:xfrm>
          <a:prstGeom prst="rect">
            <a:avLst/>
          </a:prstGeom>
          <a:noFill/>
        </p:spPr>
        <p:txBody>
          <a:bodyPr wrap="none" lIns="24765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369A1"/>
                </a:solidFill>
                <a:latin typeface="Space Grotesk"/>
              </a:rPr>
              <a:t>Infraestructura y Redes CDN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0" y="2646908"/>
            <a:ext cx="489585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Plus Jakarta Sans"/>
              </a:rPr>
              <a:t>Dimensionar la red ante aumentos bruscos de demanda.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200" y="3732758"/>
            <a:ext cx="5638800" cy="219075"/>
          </a:xfrm>
          <a:prstGeom prst="rect">
            <a:avLst/>
          </a:prstGeom>
          <a:noFill/>
        </p:spPr>
        <p:txBody>
          <a:bodyPr wrap="none" lIns="295275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369A1"/>
                </a:solidFill>
                <a:latin typeface="Space Grotesk"/>
              </a:rPr>
              <a:t>Naturaleza Discreta del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4008983"/>
            <a:ext cx="56388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Plus Jakarta Sans"/>
              </a:rPr>
              <a:t>Datos semanales, discretos y con variaciones.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875758"/>
            <a:ext cx="5638800" cy="219075"/>
          </a:xfrm>
          <a:prstGeom prst="rect">
            <a:avLst/>
          </a:prstGeom>
          <a:noFill/>
        </p:spPr>
        <p:txBody>
          <a:bodyPr wrap="none" lIns="20955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369A1"/>
                </a:solidFill>
                <a:latin typeface="Space Grotesk"/>
              </a:rPr>
              <a:t>Aporte Numérico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200" y="5151983"/>
            <a:ext cx="475488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Plus Jakarta Sans"/>
              </a:rPr>
              <a:t>Estimar cuándo se alcanza una meta de demanda.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45840"/>
            <a:ext cx="10972800" cy="48025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6200775"/>
            <a:ext cx="722376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75569"/>
                </a:solidFill>
                <a:latin typeface="Plus Jakarta Sans"/>
              </a:rPr>
              <a:t>Fuente: </a:t>
            </a:r>
            <a:r>
              <a:rPr sz="1200" b="1" i="0" u="none">
                <a:solidFill>
                  <a:srgbClr val="0F172A"/>
                </a:solidFill>
                <a:latin typeface="Plus Jakarta Sans"/>
              </a:rPr>
              <a:t>kworb.net (charts de Spotify México, Top 200)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4850" y="6200775"/>
            <a:ext cx="38671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475569"/>
                </a:solidFill>
                <a:latin typeface="Plus Jakarta Sans"/>
              </a:rPr>
              <a:t>Acumulado 26/01-14/12/2023: </a:t>
            </a:r>
            <a:r>
              <a:rPr sz="1200" b="1" i="0" u="none">
                <a:solidFill>
                  <a:srgbClr val="E11D48"/>
                </a:solidFill>
                <a:latin typeface="Plus Jakarta Sans"/>
              </a:rPr>
              <a:t>132,9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881062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11D48"/>
                </a:solidFill>
                <a:latin typeface="Plus Jakarta Sans"/>
              </a:rPr>
              <a:t>DATOS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66750"/>
            <a:ext cx="9251156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F172A"/>
                </a:solidFill>
                <a:latin typeface="Space Grotesk"/>
              </a:rPr>
              <a:t>47 semanas de streams en Spotify México</a:t>
            </a:r>
          </a:p>
        </p:txBody>
      </p:sp>
      <p:pic>
        <p:nvPicPr>
          <p:cNvPr id="8" name="Picture 7" descr="grafico_1_ajuste_curva_stre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53136"/>
            <a:ext cx="10634472" cy="44991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99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103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0106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11D48"/>
                </a:solidFill>
                <a:latin typeface="Plus Jakarta Sans"/>
              </a:rPr>
              <a:t>JUSTIFICACIÓN DE LOS MÉTODOS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F172A"/>
                </a:solidFill>
                <a:latin typeface="Space Grotesk"/>
              </a:rPr>
              <a:t>¿Por qué estos métodos?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261270"/>
            <a:ext cx="219456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>
                <a:solidFill>
                  <a:srgbClr val="0F172A"/>
                </a:solidFill>
                <a:latin typeface="Space Grotesk"/>
              </a:rPr>
              <a:t>Interpolación lineal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594645"/>
            <a:ext cx="220980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475569"/>
                </a:solidFill>
                <a:latin typeface="Plus Jakarta Sans"/>
              </a:rPr>
              <a:t>Ignora la curvatura. Da 35,127 semanas: se usa como control.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8550" y="3261270"/>
            <a:ext cx="219456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>
                <a:solidFill>
                  <a:srgbClr val="0F172A"/>
                </a:solidFill>
                <a:latin typeface="Space Grotesk"/>
              </a:rPr>
              <a:t>Lagrange (5.4)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594645"/>
            <a:ext cx="220980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475569"/>
                </a:solidFill>
                <a:latin typeface="Plus Jakarta Sans"/>
              </a:rPr>
              <a:t>Con los mismos 4 puntos da el mismo polinomio, sin la tabla de diferencias.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3261270"/>
            <a:ext cx="219456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>
                <a:solidFill>
                  <a:srgbClr val="0F172A"/>
                </a:solidFill>
                <a:latin typeface="Space Grotesk"/>
              </a:rPr>
              <a:t>Trazadora cúbica (5.5)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594645"/>
            <a:ext cx="220980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475569"/>
                </a:solidFill>
                <a:latin typeface="Plus Jakarta Sans"/>
              </a:rPr>
              <a:t>Pensada para muchos puntos: en un tramo corto fuerza curvatura nula en los bordes.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0" y="3261270"/>
            <a:ext cx="219456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>
                <a:solidFill>
                  <a:srgbClr val="0F172A"/>
                </a:solidFill>
                <a:latin typeface="Space Grotesk"/>
              </a:rPr>
              <a:t>Regresión (5.2)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9250" y="3594645"/>
            <a:ext cx="220980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475569"/>
                </a:solidFill>
                <a:latin typeface="Plus Jakarta Sans"/>
              </a:rPr>
              <a:t>El apunte trae la recta: no pasa por los datos medidos.</a:t>
            </a:r>
          </a:p>
        </p:txBody>
      </p:sp>
      <p:sp>
        <p:nvSpPr>
          <p:cNvPr id="121" name="TextBox 16"/>
          <p:cNvSpPr txBox="1"/>
          <p:nvPr/>
        </p:nvSpPr>
        <p:spPr>
          <a:xfrm>
            <a:off x="609600" y="1920240"/>
            <a:ext cx="1078992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475569"/>
                </a:solidFill>
                <a:latin typeface="Plus Jakarta Sans"/>
              </a:rPr>
              <a:t>Se eligió la interpolación de Newton (apartado 5.3) frente a las otras opciones de los apuntes:</a:t>
            </a:r>
          </a:p>
        </p:txBody>
      </p:sp>
      <p:sp>
        <p:nvSpPr>
          <p:cNvPr id="157" name="TextBox 16"/>
          <p:cNvSpPr txBox="1"/>
          <p:nvPr/>
        </p:nvSpPr>
        <p:spPr>
          <a:xfrm>
            <a:off x="609600" y="5257800"/>
            <a:ext cx="1078992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u="none">
                <a:solidFill>
                  <a:srgbClr val="475569"/>
                </a:solidFill>
                <a:latin typeface="Plus Jakarta Sans"/>
              </a:rPr>
              <a:t>Raíces: Bisección (cerrado, segura) vs. Newton-Raphson (abierto, rápido).</a:t>
            </a:r>
            <a:br>
              <a:rPr sz="1600" b="0" i="0" u="none">
                <a:solidFill>
                  <a:srgbClr val="475569"/>
                </a:solidFill>
                <a:latin typeface="Plus Jakarta Sans"/>
              </a:rPr>
            </a:br>
            <a:r>
              <a:rPr sz="1600" b="0" i="0" u="none">
                <a:solidFill>
                  <a:srgbClr val="475569"/>
                </a:solidFill>
                <a:latin typeface="Plus Jakarta Sans"/>
              </a:rPr>
              <a:t>La secante no hace falta: la derivada de P(t) se obtiene analíticamente.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341090"/>
            <a:ext cx="10972800" cy="1571625"/>
          </a:xfrm>
          <a:prstGeom prst="roundRect">
            <a:avLst>
              <a:gd name="adj" fmla="val 9696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434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77200" y="4617720"/>
            <a:ext cx="3505200" cy="1261872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11D48"/>
                </a:solidFill>
                <a:latin typeface="Plus Jakarta Sans"/>
              </a:rPr>
              <a:t>MÉTODO NUMÉRICO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800" b="1" i="0" u="none">
                <a:solidFill>
                  <a:srgbClr val="0F172A"/>
                </a:solidFill>
                <a:latin typeface="Space Grotesk"/>
              </a:rPr>
              <a:t>Interpolación de Newton (diferencias divididas)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1645890"/>
            <a:ext cx="11201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B7185"/>
                </a:solidFill>
                <a:latin typeface="Plus Jakarta Sans"/>
              </a:rPr>
              <a:t>POLINOMIO P(t) DE GRADO 3 · S(t) EN MILLONES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1883664"/>
            <a:ext cx="10241280" cy="5760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900" b="1" i="0" u="none">
                <a:solidFill>
                  <a:srgbClr val="F8FAFC"/>
                </a:solidFill>
                <a:latin typeface="Space Grotesk"/>
              </a:rPr>
              <a:t>P(t) = 96,349 + 3,25351(t−34) − 0,05879(t−34)(t−35)
          − 0,009340(t−34)(t−35)(t−36)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551176"/>
            <a:ext cx="10241280" cy="23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 i="0" u="none">
                <a:solidFill>
                  <a:srgbClr val="94A3B8"/>
                </a:solidFill>
                <a:latin typeface="Plus Jakarta Sans"/>
              </a:rPr>
              <a:t>Cuatro datos cercanos a la meta permiten seguir la curvatura entre las mediciones.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4850421"/>
            <a:ext cx="306324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4748B"/>
                </a:solidFill>
                <a:latin typeface="Plus Jakarta Sans"/>
              </a:rPr>
              <a:t>DATOS CERCANOS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5079021"/>
            <a:ext cx="306324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1" i="0" u="none">
                <a:solidFill>
                  <a:srgbClr val="E11D48"/>
                </a:solidFill>
                <a:latin typeface="Plus Jakarta Sans"/>
              </a:rPr>
              <a:t>4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5517171"/>
            <a:ext cx="306324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Plus Jakarta Sans"/>
              </a:rPr>
              <a:t>Semanas 34, 35, 36 y 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850421"/>
            <a:ext cx="306324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4748B"/>
                </a:solidFill>
                <a:latin typeface="Plus Jakarta Sans"/>
              </a:rPr>
              <a:t>GRADO DEL POLINOMIO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079021"/>
            <a:ext cx="306324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1" i="0" u="none">
                <a:solidFill>
                  <a:srgbClr val="0F172A"/>
                </a:solidFill>
                <a:latin typeface="Plus Jakarta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517171"/>
            <a:ext cx="306324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Plus Jakarta Sans"/>
              </a:rPr>
              <a:t>Pasa exactamente por los datos.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4850421"/>
            <a:ext cx="306324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64748B"/>
                </a:solidFill>
                <a:latin typeface="Plus Jakarta Sans"/>
              </a:rPr>
              <a:t>¿POR QUÉ NO LOS 47?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5800" y="5079021"/>
            <a:ext cx="306324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1" i="0" u="none">
                <a:solidFill>
                  <a:srgbClr val="0284C7"/>
                </a:solidFill>
                <a:latin typeface="Plus Jakarta Sans"/>
              </a:rPr>
              <a:t>Grado 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5800" y="5517171"/>
            <a:ext cx="306324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Plus Jakarta Sans"/>
              </a:rPr>
              <a:t>Con tantos puntos puede oscilar.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22960" y="3072384"/>
          <a:ext cx="10533888" cy="1472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54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054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05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t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S(t) [M]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1ra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2da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Aptos"/>
                        </a:rPr>
                        <a:t>3ra diferencia</a:t>
                      </a:r>
                    </a:p>
                  </a:txBody>
                  <a:tcPr marT="22860" marB="22860">
                    <a:solidFill>
                      <a:srgbClr val="1018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96,349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3,25351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−0,05879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−0,00934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35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99,602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3,13594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−0,08681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36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102,738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2,96232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37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72033"/>
                          </a:solidFill>
                          <a:latin typeface="Aptos"/>
                        </a:rPr>
                        <a:t>105,700</a:t>
                      </a:r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T="22860" marB="22860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537370"/>
            <a:ext cx="5334000" cy="289560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532608"/>
            <a:ext cx="5334000" cy="2905125"/>
          </a:xfrm>
          <a:prstGeom prst="roundRect">
            <a:avLst>
              <a:gd name="adj" fmla="val 5245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" y="4766220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553200" y="4770983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876800" y="2865983"/>
            <a:ext cx="762000" cy="247650"/>
          </a:xfrm>
          <a:prstGeom prst="roundRect">
            <a:avLst>
              <a:gd name="adj" fmla="val 30769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4766220"/>
            <a:ext cx="4724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553700" y="2861220"/>
            <a:ext cx="723900" cy="247650"/>
          </a:xfrm>
          <a:prstGeom prst="roundRect">
            <a:avLst>
              <a:gd name="adj" fmla="val 30769"/>
            </a:avLst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53200" y="4770983"/>
            <a:ext cx="4724400" cy="9525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11D48"/>
                </a:solidFill>
                <a:latin typeface="Plus Jakarta Sans"/>
              </a:rPr>
              <a:t>MÉTODO NUMÉRICO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F172A"/>
                </a:solidFill>
                <a:latin typeface="Space Grotesk"/>
              </a:rPr>
              <a:t>Determinación del Hito de 100 Millones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170432"/>
            <a:ext cx="10972800" cy="103327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64748B"/>
                </a:solidFill>
                <a:latin typeface="Plus Jakarta Sans"/>
              </a:rPr>
              <a:t>f(t) = P(t) − 100 = 0 · |Ea| &lt; 10⁻⁴ % (error relativo porcentual aproximado)</a:t>
            </a:r>
            <a:br>
              <a:rPr sz="1500" b="0" i="0" u="none">
                <a:solidFill>
                  <a:srgbClr val="64748B"/>
                </a:solidFill>
                <a:latin typeface="Plus Jakarta Sans"/>
              </a:rPr>
            </a:br>
            <a:r>
              <a:rPr sz="1500" b="0" i="0" u="none">
                <a:solidFill>
                  <a:srgbClr val="64748B"/>
                </a:solidFill>
                <a:latin typeface="Plus Jakarta Sans"/>
              </a:rPr>
              <a:t>f(35) = −0,3978 &lt; 0 &lt; f(36) = 2,7381</a:t>
            </a:r>
            <a:br>
              <a:rPr sz="1500" b="0" i="0" u="none">
                <a:solidFill>
                  <a:srgbClr val="64748B"/>
                </a:solidFill>
                <a:latin typeface="Plus Jakarta Sans"/>
              </a:rPr>
            </a:br>
            <a:r>
              <a:rPr sz="1500" b="0" i="0" u="none">
                <a:solidFill>
                  <a:srgbClr val="64748B"/>
                </a:solidFill>
                <a:latin typeface="Plus Jakarta Sans"/>
              </a:rPr>
              <a:t>Newton a mano: t₀ = 35; f′(35) = 3,2041; x₁ = 35 − (−0,3978) / 3,2041 = 35,1242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9845"/>
            <a:ext cx="466344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Plus Jakarta Sans"/>
              </a:rPr>
              <a:t>Intervalo inicial: [35; 36]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94745"/>
            <a:ext cx="466344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 i="0" u="none">
                <a:solidFill>
                  <a:srgbClr val="475569"/>
                </a:solidFill>
                <a:latin typeface="Plus Jakarta Sans"/>
              </a:rPr>
              <a:t>Lineal. Requiere cambio de signo. Segura y lenta.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3285083"/>
            <a:ext cx="466344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Plus Jakarta Sans"/>
              </a:rPr>
              <a:t>Semilla inicial: t₀ = 35 semanas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399508"/>
            <a:ext cx="466344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 i="0" u="none">
                <a:solidFill>
                  <a:srgbClr val="475569"/>
                </a:solidFill>
                <a:latin typeface="Plus Jakarta Sans"/>
              </a:rPr>
              <a:t>Cuadrática. Requiere f′(t) y buen t₀. Rápida.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842170"/>
            <a:ext cx="1430178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Space Grotesk"/>
              </a:rPr>
              <a:t>Bisección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1100" y="2904083"/>
            <a:ext cx="6286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475569"/>
                </a:solidFill>
                <a:latin typeface="Plus Jakarta Sans"/>
              </a:rPr>
              <a:t>Cerrado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661320"/>
            <a:ext cx="752475" cy="581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600" b="1" i="0" u="none">
                <a:solidFill>
                  <a:srgbClr val="0284C7"/>
                </a:solidFill>
                <a:latin typeface="Plus Jakarta Sans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7325" y="3956595"/>
            <a:ext cx="12096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64748B"/>
                </a:solidFill>
                <a:latin typeface="Plus Jakarta Sans"/>
              </a:rPr>
              <a:t>iteraciones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09095"/>
            <a:ext cx="466344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t* = 35,124481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0" y="2837408"/>
            <a:ext cx="2525315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BE123C"/>
                </a:solidFill>
                <a:latin typeface="Space Grotesk"/>
              </a:rPr>
              <a:t>Newton-Raphson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2899320"/>
            <a:ext cx="5905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9F1239"/>
                </a:solidFill>
                <a:latin typeface="Plus Jakarta Sans"/>
              </a:rPr>
              <a:t>Abierto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666083"/>
            <a:ext cx="561975" cy="581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600" b="1" i="0" u="none">
                <a:solidFill>
                  <a:srgbClr val="E11D48"/>
                </a:solidFill>
                <a:latin typeface="Plus Jakarta San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5625" y="3961358"/>
            <a:ext cx="2643187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BE123C"/>
                </a:solidFill>
                <a:latin typeface="Plus Jakarta Sans"/>
              </a:rPr>
              <a:t>iteraciones (5× menos)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200" y="4913858"/>
            <a:ext cx="466344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9F1239"/>
                </a:solidFill>
                <a:latin typeface="Plus Jakarta Sans"/>
              </a:rPr>
              <a:t>t* = 35,124460 semanas</a:t>
            </a:r>
          </a:p>
        </p:txBody>
      </p:sp>
      <p:sp>
        <p:nvSpPr>
          <p:cNvPr id="27" name="TextBox 11"/>
          <p:cNvSpPr txBox="1"/>
          <p:nvPr/>
        </p:nvSpPr>
        <p:spPr>
          <a:xfrm>
            <a:off x="731520" y="5806440"/>
            <a:ext cx="10789920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300" b="0" i="0" u="none">
                <a:solidFill>
                  <a:srgbClr val="64748B"/>
                </a:solidFill>
                <a:latin typeface="Plus Jakarta Sans"/>
              </a:rPr>
              <a:t>Resultado: t* ≈ 35,12 semanas ≈ 28/09/2023 (≈ 21 h)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09600" y="6200775"/>
            <a:ext cx="630936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284C7"/>
                </a:solidFill>
                <a:latin typeface="Plus Jakarta Sans"/>
              </a:rPr>
              <a:t>Bisección: Siempre converge si hay cambio de signo (15 iteraciones).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24700" y="6200775"/>
            <a:ext cx="50673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11D48"/>
                </a:solidFill>
                <a:latin typeface="Plus Jakarta Sans"/>
              </a:rPr>
              <a:t>Newton-Raphson: Convergencia cuadrática en solo 3 pasos.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701278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11D48"/>
                </a:solidFill>
                <a:latin typeface="Plus Jakarta Sans"/>
              </a:rPr>
              <a:t>EFICIENCIA NUMÉRICA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736342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F172A"/>
                </a:solidFill>
                <a:latin typeface="Space Grotesk"/>
              </a:rPr>
              <a:t>Convergencia: Lineal vs. Cuadrática</a:t>
            </a:r>
          </a:p>
        </p:txBody>
      </p:sp>
      <p:pic>
        <p:nvPicPr>
          <p:cNvPr id="9" name="Picture 8" descr="grafico_2_convergencia_biseccion_vs_new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675" y="1463040"/>
            <a:ext cx="746760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12648" y="1600200"/>
            <a:ext cx="5330952" cy="1143000"/>
          </a:xfrm>
          <a:prstGeom prst="roundRect">
            <a:avLst>
              <a:gd name="adj" fmla="val 22641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5352" y="1600200"/>
            <a:ext cx="5330952" cy="1143000"/>
          </a:xfrm>
          <a:prstGeom prst="roundRect">
            <a:avLst>
              <a:gd name="adj" fmla="val 22641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7C3AED"/>
                </a:solidFill>
                <a:latin typeface="Plus Jakarta Sans"/>
              </a:rPr>
              <a:t>APLICACIÓN DE INGENIERÍA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800" b="1" i="0" u="none">
                <a:solidFill>
                  <a:srgbClr val="0F172A"/>
                </a:solidFill>
                <a:latin typeface="Space Grotesk"/>
              </a:rPr>
              <a:t>Volumen y ancho de banda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19656"/>
            <a:ext cx="4828032" cy="6675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6B21A8"/>
                </a:solidFill>
                <a:latin typeface="Plus Jakarta Sans"/>
              </a:rPr>
              <a:t>≈ 372 TB</a:t>
            </a:r>
            <a:br>
              <a:rPr sz="2100" b="1" i="0" u="none">
                <a:solidFill>
                  <a:srgbClr val="6B21A8"/>
                </a:solidFill>
                <a:latin typeface="Plus Jakarta Sans"/>
              </a:rPr>
            </a:br>
            <a:r>
              <a:rPr sz="2100" b="1" i="0" u="none">
                <a:solidFill>
                  <a:srgbClr val="6B21A8"/>
                </a:solidFill>
                <a:latin typeface="Plus Jakarta Sans"/>
              </a:rPr>
              <a:t>transferidos hasta el hito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1384" y="1819656"/>
            <a:ext cx="4800600" cy="6675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300" b="1" i="0" u="none">
                <a:solidFill>
                  <a:srgbClr val="991B1B"/>
                </a:solidFill>
                <a:latin typeface="Plus Jakarta Sans"/>
              </a:rPr>
              <a:t>≈ 205 Mbps</a:t>
            </a:r>
            <a:br>
              <a:rPr sz="2300" b="1" i="0" u="none">
                <a:solidFill>
                  <a:srgbClr val="991B1B"/>
                </a:solidFill>
                <a:latin typeface="Plus Jakarta Sans"/>
              </a:rPr>
            </a:br>
            <a:r>
              <a:rPr sz="2300" b="1" i="0" u="none">
                <a:solidFill>
                  <a:srgbClr val="991B1B"/>
                </a:solidFill>
                <a:latin typeface="Plus Jakarta Sans"/>
              </a:rPr>
              <a:t>promedio en la semana pico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10698480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700" b="1" i="0" u="none">
                <a:solidFill>
                  <a:srgbClr val="8B5CF6"/>
                </a:solidFill>
                <a:latin typeface="Plus Jakarta Sans"/>
              </a:rPr>
              <a:t>Volumen = reproducciones × 160 kbps × 186 s ÷ 8 → 3,72 MB por reproducción</a:t>
            </a:r>
            <a:br>
              <a:rPr sz="1700" b="1" i="0" u="none">
                <a:solidFill>
                  <a:srgbClr val="8B5CF6"/>
                </a:solidFill>
                <a:latin typeface="Plus Jakarta Sans"/>
              </a:rPr>
            </a:br>
            <a:r>
              <a:rPr sz="1700" b="1" i="0" u="none">
                <a:solidFill>
                  <a:srgbClr val="8B5CF6"/>
                </a:solidFill>
                <a:latin typeface="Plus Jakarta Sans"/>
              </a:rPr>
              <a:t>Ancho de banda = reproducciones/semana × 160 kbps × 186 s ÷ 1000 ÷ 604.800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257800"/>
            <a:ext cx="1069848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6D28D9"/>
                </a:solidFill>
                <a:latin typeface="Plus Jakarta Sans"/>
              </a:rPr>
              <a:t>Al superar los 100 M (28/09/2023) se habían servido unos 372 TB;</a:t>
            </a:r>
            <a:br>
              <a:rPr sz="1800" b="1" i="0" u="none">
                <a:solidFill>
                  <a:srgbClr val="6D28D9"/>
                </a:solidFill>
                <a:latin typeface="Plus Jakarta Sans"/>
              </a:rPr>
            </a:br>
            <a:r>
              <a:rPr sz="1800" b="1" i="0" u="none">
                <a:solidFill>
                  <a:srgbClr val="6D28D9"/>
                </a:solidFill>
                <a:latin typeface="Plus Jakarta Sans"/>
              </a:rPr>
              <a:t>en la semana pico (27/07/2023) la red necesitó unos 205 Mbps solo para esta canción.</a:t>
            </a:r>
          </a:p>
        </p:txBody>
      </p:sp>
      <p:sp>
        <p:nvSpPr>
          <p:cNvPr id="42" name="Supuestos"/>
          <p:cNvSpPr txBox="1"/>
          <p:nvPr/>
        </p:nvSpPr>
        <p:spPr>
          <a:xfrm>
            <a:off x="777240" y="4155439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0" i="0" u="none">
                <a:solidFill>
                  <a:srgbClr val="475569"/>
                </a:solidFill>
                <a:latin typeface="Plus Jakarta Sans"/>
              </a:rPr>
              <a:t>Supuestos: duración de 3:06 (186 s) y audio a 160 kbps.
Son órdenes de magnitud, no datos de Spotify.
Referencias: Wikipedia, Dulce Beat (duración), y Spotify, Calidad de audio.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7C3AED"/>
                </a:solidFill>
                <a:latin typeface="Plus Jakarta Sans"/>
              </a:rPr>
              <a:t>GENERALIZACIÓN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F172A"/>
                </a:solidFill>
                <a:latin typeface="Space Grotesk"/>
              </a:rPr>
              <a:t>¿Sirve para Cualquier Canción? 3 Casos Reales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83480"/>
            <a:ext cx="10698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-164592">
              <a:spcAft>
                <a:spcPts val="500"/>
              </a:spcAft>
              <a:buChar char="•"/>
            </a:pPr>
            <a:r>
              <a:rPr sz="1500" b="0" i="0" u="none">
                <a:solidFill>
                  <a:srgbClr val="475569"/>
                </a:solidFill>
                <a:latin typeface="Plus Jakarta Sans"/>
              </a:rPr>
              <a:t>Mismo programa: solo cambia el archivo CSV.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sz="1500" b="0" i="0" u="none">
                <a:solidFill>
                  <a:srgbClr val="475569"/>
                </a:solidFill>
                <a:latin typeface="Plus Jakarta Sans"/>
              </a:rPr>
              <a:t>Hito de 100 M: Rosa Pastel 28/09/2023, Ella Baila Sola 19/04/2023, Tití 21/07/2022.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sz="1500" b="0" i="0" u="none">
                <a:solidFill>
                  <a:srgbClr val="475569"/>
                </a:solidFill>
                <a:latin typeface="Plus Jakarta Sans"/>
              </a:rPr>
              <a:t>Bisección: 15 a 18 iteraciones; Newton: 3 o 4.</a:t>
            </a:r>
          </a:p>
          <a:p>
            <a:pPr marL="182880" indent="-164592">
              <a:spcAft>
                <a:spcPts val="500"/>
              </a:spcAft>
              <a:buChar char="•"/>
            </a:pPr>
            <a:r>
              <a:rPr sz="1500" b="0" i="0" u="none">
                <a:solidFill>
                  <a:srgbClr val="475569"/>
                </a:solidFill>
                <a:latin typeface="Plus Jakarta Sans"/>
              </a:rPr>
              <a:t>Sirve para estimar cuándo cualquier contenido alcanza una meta de demanda.</a:t>
            </a:r>
          </a:p>
        </p:txBody>
      </p:sp>
      <p:pic>
        <p:nvPicPr>
          <p:cNvPr id="13" name="Picture 12" descr="grafico_3_comparacion_can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1" y="1280160"/>
            <a:ext cx="10917936" cy="363931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099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103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0106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46970"/>
            <a:ext cx="381000" cy="381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3146970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900" y="3146970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0" y="3146970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975" y="3251745"/>
            <a:ext cx="17145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9512" y="3251745"/>
            <a:ext cx="219075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3675" y="3251745"/>
            <a:ext cx="171450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44025" y="3251745"/>
            <a:ext cx="171450" cy="171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11D48"/>
                </a:solidFill>
                <a:latin typeface="Plus Jakarta Sans"/>
              </a:rPr>
              <a:t>EVALUACIÓN TÉCNICA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F172A"/>
                </a:solidFill>
                <a:latin typeface="Space Grotesk"/>
              </a:rPr>
              <a:t>Límites y Condiciones de Borde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642270"/>
            <a:ext cx="219456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>
                <a:solidFill>
                  <a:srgbClr val="0F172A"/>
                </a:solidFill>
                <a:latin typeface="Space Grotesk"/>
              </a:rPr>
              <a:t>Alcance de los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975645"/>
            <a:ext cx="220980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475569"/>
                </a:solidFill>
                <a:latin typeface="Plus Jakarta Sans"/>
              </a:rPr>
              <a:t>Solo Spotify México, Top 200.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8550" y="3642270"/>
            <a:ext cx="219456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>
                <a:solidFill>
                  <a:srgbClr val="0F172A"/>
                </a:solidFill>
                <a:latin typeface="Space Grotesk"/>
              </a:rPr>
              <a:t>Datos semanales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975645"/>
            <a:ext cx="220980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475569"/>
                </a:solidFill>
                <a:latin typeface="Plus Jakarta Sans"/>
              </a:rPr>
              <a:t>Se supone un crecimiento suave dentro de la semana.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3642270"/>
            <a:ext cx="219456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>
                <a:solidFill>
                  <a:srgbClr val="0F172A"/>
                </a:solidFill>
                <a:latin typeface="Space Grotesk"/>
              </a:rPr>
              <a:t>Interpolación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975645"/>
            <a:ext cx="220980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475569"/>
                </a:solidFill>
                <a:latin typeface="Plus Jakarta Sans"/>
              </a:rPr>
              <a:t>Entre datos medidos: no predice a futuro.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0" y="3642270"/>
            <a:ext cx="219456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1" i="0" u="none">
                <a:solidFill>
                  <a:srgbClr val="0F172A"/>
                </a:solidFill>
                <a:latin typeface="Space Grotesk"/>
              </a:rPr>
              <a:t>Supuestos de audio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9250" y="3975645"/>
            <a:ext cx="2209800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475569"/>
                </a:solidFill>
                <a:latin typeface="Plus Jakarta Sans"/>
              </a:rPr>
              <a:t>Volumen y Mbps usan supuestos (3:06, 160 kbps).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6884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12809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096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2103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4137570"/>
            <a:ext cx="38100" cy="1076325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0300" y="4137570"/>
            <a:ext cx="38100" cy="10763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11D48"/>
                </a:solidFill>
                <a:latin typeface="Plus Jakarta Sans"/>
              </a:rPr>
              <a:t>SÍNTESIS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sz="2550" b="1" i="0" u="none">
                <a:solidFill>
                  <a:srgbClr val="0F172A"/>
                </a:solidFill>
                <a:latin typeface="Space Grotesk"/>
              </a:rPr>
              <a:t>Conclusiones y aplicación a la ingeniería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68" y="1645890"/>
            <a:ext cx="3651312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3600" b="1" i="0" u="none">
                <a:solidFill>
                  <a:srgbClr val="E11D48"/>
                </a:solidFill>
                <a:latin typeface="Plus Jakarta Sans"/>
              </a:rPr>
              <a:t>28/09/2023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1168" y="2179290"/>
            <a:ext cx="365131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475569"/>
                </a:solidFill>
                <a:latin typeface="Plus Jakarta Sans"/>
              </a:rPr>
              <a:t>Hito de 100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418" y="1645890"/>
            <a:ext cx="3651312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3600" b="1" i="0" u="none">
                <a:solidFill>
                  <a:srgbClr val="0284C7"/>
                </a:solidFill>
                <a:latin typeface="Plus Jakarta Sans"/>
              </a:rPr>
              <a:t>3 vs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418" y="2179290"/>
            <a:ext cx="365131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475569"/>
                </a:solidFill>
                <a:latin typeface="Plus Jakarta Sans"/>
              </a:rPr>
              <a:t>Iteraciones Newton vs bisección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9668" y="1645890"/>
            <a:ext cx="3651312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3600" b="1" i="0" u="none">
                <a:solidFill>
                  <a:srgbClr val="16A34A"/>
                </a:solidFill>
                <a:latin typeface="Plus Jakarta Sans"/>
              </a:rPr>
              <a:t>≈ 205 Mbps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9668" y="2179290"/>
            <a:ext cx="3651312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475569"/>
                </a:solidFill>
                <a:latin typeface="Plus Jakarta Sans"/>
              </a:rPr>
              <a:t>Semana pico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300" y="4328070"/>
            <a:ext cx="475488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Space Grotesk"/>
              </a:rPr>
              <a:t>Interpolación de Newton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4585245"/>
            <a:ext cx="497205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Plus Jakarta Sans"/>
              </a:rPr>
              <a:t>Estima el instante entre dos mediciones semanales; el hito equivale a ≈ 372 TB.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0" y="4328070"/>
            <a:ext cx="475488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Space Grotesk"/>
              </a:rPr>
              <a:t>Métodos de raíces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4585245"/>
            <a:ext cx="497205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Plus Jakarta Sans"/>
              </a:rPr>
              <a:t>Newton-Raphson converge mucho más rápido; bisección es más segura.</a:t>
            </a:r>
          </a:p>
        </p:txBody>
      </p:sp>
      <p:sp>
        <p:nvSpPr>
          <p:cNvPr id="21" name="Rectangle 4"/>
          <p:cNvSpPr/>
          <p:nvPr/>
        </p:nvSpPr>
        <p:spPr>
          <a:xfrm>
            <a:off x="609600" y="2900000"/>
            <a:ext cx="109728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6"/>
          <p:cNvSpPr/>
          <p:nvPr/>
        </p:nvSpPr>
        <p:spPr>
          <a:xfrm>
            <a:off x="609600" y="2900000"/>
            <a:ext cx="38100" cy="107632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16"/>
          <p:cNvSpPr txBox="1"/>
          <p:nvPr/>
        </p:nvSpPr>
        <p:spPr>
          <a:xfrm>
            <a:off x="876300" y="3090500"/>
            <a:ext cx="105728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Space Grotesk"/>
              </a:rPr>
              <a:t>Generalizable</a:t>
            </a:r>
          </a:p>
        </p:txBody>
      </p:sp>
      <p:sp>
        <p:nvSpPr>
          <p:cNvPr id="24" name="TextBox 17"/>
          <p:cNvSpPr txBox="1"/>
          <p:nvPr/>
        </p:nvSpPr>
        <p:spPr>
          <a:xfrm>
            <a:off x="876300" y="3347675"/>
            <a:ext cx="10572800" cy="438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Plus Jakarta Sans"/>
              </a:rPr>
              <a:t>El mismo programa sirve para cualquier canción con datos semanales.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581400" y="4007048"/>
            <a:ext cx="5029200" cy="600075"/>
          </a:xfrm>
          <a:prstGeom prst="roundRect">
            <a:avLst>
              <a:gd name="adj" fmla="val 22222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9562" y="1812577"/>
            <a:ext cx="395287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FB7185"/>
                </a:solidFill>
                <a:latin typeface="Plus Jakarta Sans"/>
              </a:rPr>
              <a:t>TALLER DE MÉTODOS NUMÉRICOS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4339" y="2136427"/>
            <a:ext cx="6563320" cy="6704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sz="4800" b="1" i="0" u="none">
                <a:solidFill>
                  <a:srgbClr val="FFFFFF"/>
                </a:solidFill>
                <a:latin typeface="Space Grotesk"/>
              </a:rPr>
              <a:t>¡Muchas Gracias!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6468" y="2997398"/>
            <a:ext cx="7739062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sz="1650" b="0" i="0" u="none">
                <a:solidFill>
                  <a:srgbClr val="94A3B8"/>
                </a:solidFill>
                <a:latin typeface="Plus Jakarta Sans"/>
              </a:rPr>
              <a:t>¿Preguntas?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3343" y="4873823"/>
            <a:ext cx="4405312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1425" y="4197548"/>
            <a:ext cx="123825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E2E8F0"/>
                </a:solidFill>
                <a:latin typeface="Plus Jakarta Sans"/>
              </a:rPr>
              <a:t>Pedro Gatti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415" y="4197548"/>
            <a:ext cx="1512093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E2E8F0"/>
                </a:solidFill>
                <a:latin typeface="Plus Jakarta Sans"/>
              </a:rPr>
              <a:t>Facundo Grillo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678" y="4197548"/>
            <a:ext cx="1464468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E2E8F0"/>
                </a:solidFill>
                <a:latin typeface="Plus Jakarta Sans"/>
              </a:rPr>
              <a:t>Gonzalo Marin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" y="866775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009650"/>
            <a:ext cx="857250" cy="4762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81175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2150268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F8FAFC"/>
                </a:solidFill>
                <a:latin typeface="Space Grotesk"/>
              </a:rPr>
              <a:t>Image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1047750"/>
            <a:ext cx="6965156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F8FAFC"/>
                </a:solidFill>
                <a:latin typeface="Plus Jakarta Sans"/>
              </a:rPr>
              <a:t>https://www.musicconnection.com/wp-content/uploads/2024/04/2V7A2667-620x420.jpg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6875" y="1247775"/>
            <a:ext cx="33099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Plus Jakarta Sans"/>
              </a:rPr>
              <a:t>www.musicconnection.com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875" y="1819275"/>
            <a:ext cx="6274593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F8FAFC"/>
                </a:solidFill>
                <a:latin typeface="Plus Jakarta Sans"/>
              </a:rPr>
              <a:t>https://stagsterlabs.com/images/capabilities/cloud-hosting-websites-mobile.png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875" y="2019300"/>
            <a:ext cx="2345531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Plus Jakarta Sans"/>
              </a:rPr>
              <a:t>stagsterlabs.com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1053</Words>
  <Application>Microsoft Macintosh PowerPoint</Application>
  <PresentationFormat>Widescreen</PresentationFormat>
  <Paragraphs>145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Calibri</vt:lpstr>
      <vt:lpstr>Space Grotesk</vt:lpstr>
      <vt:lpstr>Aptos</vt:lpstr>
      <vt:lpstr>Plus Jakarta Sans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Facundo Grillo</cp:lastModifiedBy>
  <cp:revision>2</cp:revision>
  <dcterms:created xsi:type="dcterms:W3CDTF">2013-01-27T09:14:16Z</dcterms:created>
  <dcterms:modified xsi:type="dcterms:W3CDTF">2026-10-29T12:23:33Z</dcterms:modified>
  <cp:category/>
</cp:coreProperties>
</file>