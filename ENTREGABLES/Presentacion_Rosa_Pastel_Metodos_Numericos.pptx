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71" r:id="rId22"/>
    <p:sldId id="260" r:id="rId11"/>
    <p:sldId id="261" r:id="rId12"/>
    <p:sldId id="262" r:id="rId13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slide" Target="slides/slide10.xml"/><Relationship Id="rId21" Type="http://schemas.openxmlformats.org/officeDocument/2006/relationships/slide" Target="slides/slide9.xml"/><Relationship Id="rId2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MÉTODOS NUMÉRICOS · CÁTEDRA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2880270"/>
            <a:ext cx="350520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Lagrange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5800" y="3261270"/>
            <a:ext cx="3048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Regresión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94645"/>
            <a:ext cx="30480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Se eligió la interpolación de Newton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00" i="0" u="none">
                <a:solidFill>
                  <a:srgbClr val="475569"/>
                </a:solidFill>
                <a:latin typeface="Plus Jakarta Sans"/>
              </a:rPr>
              <a:t>Raíces: Bisección (intervalo, confiable) vs. Newton-Raphson (abierto, rápido).</a:t>
            </a:r>
            <a:br>
              <a:rPr b="0" sz="1600" i="0" u="none">
                <a:solidFill>
                  <a:srgbClr val="475569"/>
                </a:solidFill>
                <a:latin typeface="Plus Jakarta Sans"/>
              </a:rPr>
            </a:br>
            <a:r>
              <a:rPr b="0" sz="160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00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03120"/>
                <a:gridCol w="2505456"/>
                <a:gridCol w="2505456"/>
                <a:gridCol w="2505456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b="0" sz="1500" i="0" u="none">
                <a:solidFill>
                  <a:srgbClr val="64748B"/>
                </a:solidFill>
                <a:latin typeface="Plus Jakarta Sans"/>
              </a:rPr>
            </a:br>
            <a:r>
              <a:rPr b="0" sz="150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cambio de signo. Confiable, pero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Valor inicial: t₀ = 35 semanas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400" i="0" u="none">
                <a:solidFill>
                  <a:srgbClr val="475569"/>
                </a:solidFill>
                <a:latin typeface="Plus Jakarta Sans"/>
              </a:rPr>
              <a:t>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Intervalo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230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rápida,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Lenta vs. Rápida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800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b="1" sz="2100" i="0" u="none">
                <a:solidFill>
                  <a:srgbClr val="6B21A8"/>
                </a:solidFill>
                <a:latin typeface="Plus Jakarta Sans"/>
              </a:rPr>
            </a:br>
            <a:r>
              <a:rPr b="1" sz="2100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300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b="1" sz="2300" i="0" u="none">
                <a:solidFill>
                  <a:srgbClr val="991B1B"/>
                </a:solidFill>
                <a:latin typeface="Plus Jakarta Sans"/>
              </a:rPr>
            </a:br>
            <a:r>
              <a:rPr b="1" sz="2300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700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b="1" sz="1700" i="0" u="none">
                <a:solidFill>
                  <a:srgbClr val="8B5CF6"/>
                </a:solidFill>
                <a:latin typeface="Plus Jakarta Sans"/>
              </a:rPr>
            </a:br>
            <a:r>
              <a:rPr b="1" sz="1700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b="1" sz="1800" i="0" u="none">
                <a:solidFill>
                  <a:srgbClr val="6D28D9"/>
                </a:solidFill>
                <a:latin typeface="Plus Jakarta Sans"/>
              </a:rPr>
            </a:br>
            <a:r>
              <a:rPr b="1" sz="1800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70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b="0" sz="150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00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