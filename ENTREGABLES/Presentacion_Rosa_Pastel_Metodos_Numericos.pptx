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71" r:id="rId22"/>
    <p:sldId id="260" r:id="rId11"/>
    <p:sldId id="261" r:id="rId12"/>
    <p:sldId id="262" r:id="rId13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0.xml"/><Relationship Id="rId21" Type="http://schemas.openxmlformats.org/officeDocument/2006/relationships/slide" Target="slides/slide9.xml"/><Relationship Id="rId2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46324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MÉTODOS NUMÉRICOS · CÁTEDRA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1,1 M a pico de 4,17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132,9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JUSTIFICACIÓN DE LOS 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¿Por qué estos métodos?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Ignora la curvatura. Da 35,127 semanas: se usa como control.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Lagrange (5.4)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Con los mismos 4 puntos da el mismo polinomio, sin la tabla de diferencias.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Trazadora cúbica (5.5)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Pensada para muchos puntos: en un tramo corto fuerza curvatura nula en los bordes.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Regresión (5.2)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El apunte trae la recta: no pasa por los datos medidos.</a:t>
            </a:r>
          </a:p>
        </p:txBody>
      </p:sp>
      <p:sp>
        <p:nvSpPr>
          <p:cNvPr id="121" name="TextBox 16"/>
          <p:cNvSpPr txBox="1"/>
          <p:nvPr/>
        </p:nvSpPr>
        <p:spPr>
          <a:xfrm>
            <a:off x="609600" y="192024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Se eligió la interpolación de Newton (apartado 5.3) frente a las otras opciones de los apuntes: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609600" y="525780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Raíces: Bisección (intervalo, confiable) vs. Newton-Raphson (abierto, rápido).</a:t>
            </a:r>
            <a:br>
              <a:rPr b="0" sz="1600" i="0" u="none">
                <a:solidFill>
                  <a:srgbClr val="475569"/>
                </a:solidFill>
                <a:latin typeface="Plus Jakarta Sans"/>
              </a:rPr>
            </a:br>
            <a:r>
              <a:rPr b="0" sz="1600" i="0" u="none">
                <a:solidFill>
                  <a:srgbClr val="475569"/>
                </a:solidFill>
                <a:latin typeface="Plus Jakarta Sans"/>
              </a:rPr>
              <a:t>La secante no hace falta: la derivada de P(t) se obtiene analíticamente.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00" i="0" u="none">
                <a:solidFill>
                  <a:srgbClr val="F8FAFC"/>
                </a:solidFill>
                <a:latin typeface="Space Grotesk"/>
              </a:rPr>
              <a:t>P(t) = 96,349 + 3,25351(t−34) − 0,05879(t−34)(t−35)
          − 0,009340(t−34)(t−35)(t−36)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505456"/>
                <a:gridCol w="2505456"/>
                <a:gridCol w="2505456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96,349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99,602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102,738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2,96232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105,700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f(35) = −0,3978 &lt; 0 &lt; f(36) = 2,7381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Newton a mano: t₀ = 35; f′(35) = 3,2041; x₁ = 35 − (−0,3978) / 3,2041 = 35,1242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[35; 36]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cambio de signo. Confiable, pero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Valor inicial: t₀ = 35 semanas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Intervalo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t* = 35,124481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t* = 35,124460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2300" i="0" u="none">
                <a:solidFill>
                  <a:srgbClr val="64748B"/>
                </a:solidFill>
                <a:latin typeface="Plus Jakarta Sans"/>
              </a:rPr>
              <a:t>Resultado: t* ≈ 35,12 semanas ≈ 28/09/2023 (≈ 21 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rápida,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Lenta vs. Rápida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Volumen y ancho de banda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6B21A8"/>
                </a:solidFill>
                <a:latin typeface="Plus Jakarta Sans"/>
              </a:rPr>
              <a:t>≈ 372 TB</a:t>
            </a:r>
            <a:br>
              <a:rPr b="1" sz="2100" i="0" u="none">
                <a:solidFill>
                  <a:srgbClr val="6B21A8"/>
                </a:solidFill>
                <a:latin typeface="Plus Jakarta Sans"/>
              </a:rPr>
            </a:br>
            <a:r>
              <a:rPr b="1" sz="2100" i="0" u="none">
                <a:solidFill>
                  <a:srgbClr val="6B21A8"/>
                </a:solidFill>
                <a:latin typeface="Plus Jakarta Sans"/>
              </a:rPr>
              <a:t>transferidos hasta el hito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300" i="0" u="none">
                <a:solidFill>
                  <a:srgbClr val="991B1B"/>
                </a:solidFill>
                <a:latin typeface="Plus Jakarta Sans"/>
              </a:rPr>
              <a:t>≈ 205 Mbps</a:t>
            </a:r>
            <a:br>
              <a:rPr b="1" sz="2300" i="0" u="none">
                <a:solidFill>
                  <a:srgbClr val="991B1B"/>
                </a:solidFill>
                <a:latin typeface="Plus Jakarta Sans"/>
              </a:rPr>
            </a:br>
            <a:r>
              <a:rPr b="1" sz="2300" i="0" u="none">
                <a:solidFill>
                  <a:srgbClr val="991B1B"/>
                </a:solidFill>
                <a:latin typeface="Plus Jakarta Sans"/>
              </a:rPr>
              <a:t>promedio en la semana pico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700" i="0" u="none">
                <a:solidFill>
                  <a:srgbClr val="8B5CF6"/>
                </a:solidFill>
                <a:latin typeface="Plus Jakarta Sans"/>
              </a:rPr>
              <a:t>Volumen = reproducciones × 160 kbps × 186 s ÷ 8 → 3,72 MB por reproducción</a:t>
            </a:r>
            <a:br>
              <a:rPr b="1" sz="1700" i="0" u="none">
                <a:solidFill>
                  <a:srgbClr val="8B5CF6"/>
                </a:solidFill>
                <a:latin typeface="Plus Jakarta Sans"/>
              </a:rPr>
            </a:br>
            <a:r>
              <a:rPr b="1" sz="1700" i="0" u="none">
                <a:solidFill>
                  <a:srgbClr val="8B5CF6"/>
                </a:solidFill>
                <a:latin typeface="Plus Jakarta Sans"/>
              </a:rPr>
              <a:t>Ancho de banda = reproducciones/semana × 160 kbps × 186 s ÷ 1000 ÷ 604.800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98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6D28D9"/>
                </a:solidFill>
                <a:latin typeface="Plus Jakarta Sans"/>
              </a:rPr>
              <a:t>Al superar los 100 M (28/09/2023) se habían servido unos 372 TB;</a:t>
            </a:r>
            <a:br>
              <a:rPr b="1" sz="1800" i="0" u="none">
                <a:solidFill>
                  <a:srgbClr val="6D28D9"/>
                </a:solidFill>
                <a:latin typeface="Plus Jakarta Sans"/>
              </a:rPr>
            </a:br>
            <a:r>
              <a:rPr b="1" sz="1800" i="0" u="none">
                <a:solidFill>
                  <a:srgbClr val="6D28D9"/>
                </a:solidFill>
                <a:latin typeface="Plus Jakarta Sans"/>
              </a:rPr>
              <a:t>en la semana pico (27/07/2023) la red necesitó unos 205 Mbps solo para esta canción.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4155439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70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Se supone un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Volumen y Mbps usan supuestos (3:06, 160 kbps).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Estima el instante entre dos mediciones semanales; el hito equivale a ≈ 372 TB.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