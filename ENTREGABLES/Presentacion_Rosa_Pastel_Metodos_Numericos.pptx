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 xmlns:a="http://schemas.openxmlformats.org/drawingml/2006/main" saveSubsetFonts="1" autoCompressPictures="0" embedTrueTypeFonts="1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70" r:id="rId21"/>
    <p:sldId id="269" r:id="rId20"/>
    <p:sldId id="264" r:id="rId15"/>
    <p:sldId id="265" r:id="rId16"/>
    <p:sldId id="266" r:id="rId17"/>
    <p:sldId id="267" r:id="rId18"/>
  </p:sldIdLst>
  <p:sldSz cx="12192000" cy="6858000" type="screen4x3"/>
  <p:notesSz cx="6858000" cy="9144000"/>
  <p:embeddedFontLst>
    <p:embeddedFont>
      <p:font typeface="Space Grotesk"/>
      <p:bold r:id="rIdFont19"/>
    </p:embeddedFont>
    <p:embeddedFont>
      <p:font typeface="Plus Jakarta Sans"/>
      <p:regular r:id="rIdFont21"/>
      <p:bold r:id="rIdFont2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Font19" Type="http://schemas.openxmlformats.org/officeDocument/2006/relationships/font" Target="fonts/bc8e50e3-0fd2-447f-b52f-5afa504d95b6.fntdata"/><Relationship Id="rIdFont20" Type="http://schemas.openxmlformats.org/officeDocument/2006/relationships/font" Target="fonts/94207462-1b32-4c5b-870f-854b3bbeadf7.fntdata"/><Relationship Id="rIdFont21" Type="http://schemas.openxmlformats.org/officeDocument/2006/relationships/font" Target="fonts/96ae087c-a567-45a7-a9db-da851427948f.fntdata"/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20" Type="http://schemas.openxmlformats.org/officeDocument/2006/relationships/slide" Target="slides/slide9.xml"/><Relationship Id="rId21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2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2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6.png"/><Relationship Id="rId4" Type="http://schemas.openxmlformats.org/officeDocument/2006/relationships/image" Target="../media/image2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09600" y="5638800"/>
            <a:ext cx="109728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5638800"/>
            <a:ext cx="10972800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533400"/>
            <a:ext cx="6643687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F43F5E"/>
                </a:solidFill>
                <a:latin typeface="Plus Jakarta Sans"/>
              </a:rPr>
              <a:t>UNIVERSIDAD CATÓLICA DE CÓRDOBA · FACULTAD DE INGENIERÍA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230784"/>
            <a:ext cx="9701212" cy="11391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484"/>
              </a:lnSpc>
            </a:pPr>
            <a:r>
              <a:rPr b="1" sz="3900" i="0" u="none">
                <a:solidFill>
                  <a:srgbClr val="FFFFFF"/>
                </a:solidFill>
                <a:latin typeface="Space Grotesk"/>
              </a:rPr>
              <a:t>Modelado Numérico del Fenómeno </a:t>
            </a:r>
            <a:r>
              <a:rPr b="1" sz="3900" i="0" u="none">
                <a:solidFill>
                  <a:srgbClr val="FB7185"/>
                </a:solidFill>
                <a:latin typeface="Space Grotesk"/>
              </a:rPr>
              <a:t>'Rosa Pastel'</a:t>
            </a:r>
            <a:r>
              <a:rPr b="1" sz="3900" i="0" u="none">
                <a:solidFill>
                  <a:srgbClr val="FFFFFF"/>
                </a:solidFill>
                <a:latin typeface="Space Grotesk"/>
              </a:rPr>
              <a:t> en Spotify México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541365"/>
            <a:ext cx="92392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b="0" sz="1500" i="0" u="none">
                <a:solidFill>
                  <a:srgbClr val="94A3B8"/>
                </a:solidFill>
                <a:latin typeface="Plus Jakarta Sans"/>
              </a:rPr>
              <a:t>Interpolación de Newton y Bisección vs. Newton-Raphson sobre 47 semanas de datos reales de Spotify México.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96350" y="533400"/>
            <a:ext cx="1738312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94A3B8"/>
                </a:solidFill>
                <a:latin typeface="Plus Jakarta Sans"/>
              </a:rPr>
              <a:t>Ingeniería Informática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53700" y="533400"/>
            <a:ext cx="131445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94A3B8"/>
                </a:solidFill>
                <a:latin typeface="Plus Jakarta Sans"/>
              </a:rPr>
              <a:t>Comisión 46324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876925"/>
            <a:ext cx="4452937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F43F5E"/>
                </a:solidFill>
                <a:latin typeface="Plus Jakarta Sans"/>
              </a:rPr>
              <a:t>INTEGRANTES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6105525"/>
            <a:ext cx="4452937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E2E8F0"/>
                </a:solidFill>
                <a:latin typeface="Plus Jakarta Sans"/>
              </a:rPr>
              <a:t>Pedro Gatti · Facundo Grillo · Gonzalo Marin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15275" y="5876925"/>
            <a:ext cx="3667125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b="1" sz="1050" i="0" u="none">
                <a:solidFill>
                  <a:srgbClr val="94A3B8"/>
                </a:solidFill>
                <a:latin typeface="Plus Jakarta Sans"/>
              </a:rPr>
              <a:t>CÁTEDRA DE MÉTODOS NUMÉRICOS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15275" y="6105525"/>
            <a:ext cx="3667125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b="0" sz="1350" i="0" u="none">
                <a:solidFill>
                  <a:srgbClr val="CBD5E1"/>
                </a:solidFill>
                <a:latin typeface="Plus Jakarta Sans"/>
              </a:rPr>
              <a:t>Docente: Ing. Carlos Arnaudo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2251620"/>
            <a:ext cx="5257800" cy="952500"/>
          </a:xfrm>
          <a:prstGeom prst="roundRect">
            <a:avLst>
              <a:gd name="adj" fmla="val 14000"/>
            </a:avLst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9600" y="3394620"/>
            <a:ext cx="5257800" cy="952500"/>
          </a:xfrm>
          <a:prstGeom prst="roundRect">
            <a:avLst>
              <a:gd name="adj" fmla="val 14000"/>
            </a:avLst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09600" y="4537620"/>
            <a:ext cx="5257800" cy="952500"/>
          </a:xfrm>
          <a:prstGeom prst="roundRect">
            <a:avLst>
              <a:gd name="adj" fmla="val 14000"/>
            </a:avLst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600" y="1870620"/>
            <a:ext cx="5257800" cy="40005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600" y="1870620"/>
            <a:ext cx="5257800" cy="40005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2508795"/>
            <a:ext cx="171450" cy="1714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3651795"/>
            <a:ext cx="152400" cy="1714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200" y="4794795"/>
            <a:ext cx="171450" cy="1714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CONTEXTO Y CASO DE ESTUDIO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El Resurgimiento Viral de Belanova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2480220"/>
            <a:ext cx="6300787" cy="219075"/>
          </a:xfrm>
          <a:prstGeom prst="rect">
            <a:avLst/>
          </a:prstGeom>
          <a:noFill/>
        </p:spPr>
        <p:txBody>
          <a:bodyPr wrap="none" lIns="24765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BE123C"/>
                </a:solidFill>
                <a:latin typeface="Space Grotesk"/>
              </a:rPr>
              <a:t>Clásico Electropop (2006)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2756445"/>
            <a:ext cx="600075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Plus Jakarta Sans"/>
              </a:rPr>
              <a:t>Lanzamiento original del disco Dulce Beat.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3623220"/>
            <a:ext cx="6300787" cy="219075"/>
          </a:xfrm>
          <a:prstGeom prst="rect">
            <a:avLst/>
          </a:prstGeom>
          <a:noFill/>
        </p:spPr>
        <p:txBody>
          <a:bodyPr wrap="none" lIns="22860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BE123C"/>
                </a:solidFill>
                <a:latin typeface="Space Grotesk"/>
              </a:rPr>
              <a:t>Tendencia de TikTok (2023)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3899445"/>
            <a:ext cx="600075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Plus Jakarta Sans"/>
              </a:rPr>
              <a:t>Se viralizó con el trend de los sueños frustrados.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4766220"/>
            <a:ext cx="6300787" cy="219075"/>
          </a:xfrm>
          <a:prstGeom prst="rect">
            <a:avLst/>
          </a:prstGeom>
          <a:noFill/>
        </p:spPr>
        <p:txBody>
          <a:bodyPr wrap="none" lIns="24765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BE123C"/>
                </a:solidFill>
                <a:latin typeface="Space Grotesk"/>
              </a:rPr>
              <a:t>Demanda casi 4 veces mayor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5042445"/>
            <a:ext cx="600075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Plus Jakarta Sans"/>
              </a:rPr>
              <a:t>De 1.1 M a pico de 4.17 M semanales en México.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324600" y="2142083"/>
            <a:ext cx="5257800" cy="1171575"/>
          </a:xfrm>
          <a:prstGeom prst="roundRect">
            <a:avLst>
              <a:gd name="adj" fmla="val 11382"/>
            </a:avLst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324600" y="3504158"/>
            <a:ext cx="5257800" cy="952500"/>
          </a:xfrm>
          <a:prstGeom prst="roundRect">
            <a:avLst>
              <a:gd name="adj" fmla="val 14000"/>
            </a:avLst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324600" y="4647158"/>
            <a:ext cx="5257800" cy="952500"/>
          </a:xfrm>
          <a:prstGeom prst="roundRect">
            <a:avLst>
              <a:gd name="adj" fmla="val 14000"/>
            </a:avLst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870620"/>
            <a:ext cx="5257800" cy="40005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870620"/>
            <a:ext cx="5257800" cy="40005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200" y="2399258"/>
            <a:ext cx="171450" cy="1714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3200" y="3761333"/>
            <a:ext cx="219075" cy="1714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3200" y="4904333"/>
            <a:ext cx="133350" cy="1714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0284C7"/>
                </a:solidFill>
                <a:latin typeface="Plus Jakarta Sans"/>
              </a:rPr>
              <a:t>JUSTIFICACIÓN TÉCNICA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Pronóstico de demanda y dimensionamiento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3200" y="2370683"/>
            <a:ext cx="5638800" cy="219075"/>
          </a:xfrm>
          <a:prstGeom prst="rect">
            <a:avLst/>
          </a:prstGeom>
          <a:noFill/>
        </p:spPr>
        <p:txBody>
          <a:bodyPr wrap="none" lIns="24765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369A1"/>
                </a:solidFill>
                <a:latin typeface="Space Grotesk"/>
              </a:rPr>
              <a:t>Infraestructura y Redes CDN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200" y="2646908"/>
            <a:ext cx="489585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Plus Jakarta Sans"/>
              </a:rPr>
              <a:t>Dimensionar la red ante aumentos bruscos de demanda.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200" y="3732758"/>
            <a:ext cx="5638800" cy="219075"/>
          </a:xfrm>
          <a:prstGeom prst="rect">
            <a:avLst/>
          </a:prstGeom>
          <a:noFill/>
        </p:spPr>
        <p:txBody>
          <a:bodyPr wrap="none" lIns="295275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369A1"/>
                </a:solidFill>
                <a:latin typeface="Space Grotesk"/>
              </a:rPr>
              <a:t>Naturaleza Discreta del Dato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200" y="4008983"/>
            <a:ext cx="563880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Plus Jakarta Sans"/>
              </a:rPr>
              <a:t>Datos semanales, discretos y con variaciones.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3200" y="4875758"/>
            <a:ext cx="5638800" cy="219075"/>
          </a:xfrm>
          <a:prstGeom prst="rect">
            <a:avLst/>
          </a:prstGeom>
          <a:noFill/>
        </p:spPr>
        <p:txBody>
          <a:bodyPr wrap="none" lIns="20955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369A1"/>
                </a:solidFill>
                <a:latin typeface="Space Grotesk"/>
              </a:rPr>
              <a:t>Aporte Numérico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3200" y="5151983"/>
            <a:ext cx="475488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Plus Jakarta Sans"/>
              </a:rPr>
              <a:t>Estimar cuándo se alcanza una meta de demanda.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245840"/>
            <a:ext cx="10972800" cy="480253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6200775"/>
            <a:ext cx="722376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475569"/>
                </a:solidFill>
                <a:latin typeface="Plus Jakarta Sans"/>
              </a:rPr>
              <a:t>Fuente: </a:t>
            </a:r>
            <a:r>
              <a:rPr b="1" sz="1200" i="0" u="none">
                <a:solidFill>
                  <a:srgbClr val="0F172A"/>
                </a:solidFill>
                <a:latin typeface="Plus Jakarta Sans"/>
              </a:rPr>
              <a:t>kworb.net (charts de Spotify México, Top 200)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4850" y="6200775"/>
            <a:ext cx="386715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475569"/>
                </a:solidFill>
                <a:latin typeface="Plus Jakarta Sans"/>
              </a:rPr>
              <a:t>Acumulado 26/01-14/12/2023: </a:t>
            </a:r>
            <a:r>
              <a:rPr b="1" sz="1200" i="0" u="none">
                <a:solidFill>
                  <a:srgbClr val="E11D48"/>
                </a:solidFill>
                <a:latin typeface="Plus Jakarta Sans"/>
              </a:rPr>
              <a:t>132.9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457200"/>
            <a:ext cx="8810625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DATOS REALES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66750"/>
            <a:ext cx="9251156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47 semanas de streams en Spotify México</a:t>
            </a:r>
          </a:p>
        </p:txBody>
      </p:sp>
      <p:pic>
        <p:nvPicPr>
          <p:cNvPr id="8" name="Picture 7" descr="grafico_1_ajuste_curva_stream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353136"/>
            <a:ext cx="10634472" cy="449919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1341090"/>
            <a:ext cx="10972800" cy="1571625"/>
          </a:xfrm>
          <a:prstGeom prst="roundRect">
            <a:avLst>
              <a:gd name="adj" fmla="val 9696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9600" y="4617720"/>
            <a:ext cx="3505200" cy="1261872"/>
          </a:xfrm>
          <a:prstGeom prst="roundRect">
            <a:avLst>
              <a:gd name="adj" fmla="val 1007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343400" y="4617720"/>
            <a:ext cx="3505200" cy="1261872"/>
          </a:xfrm>
          <a:prstGeom prst="roundRect">
            <a:avLst>
              <a:gd name="adj" fmla="val 1007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077200" y="4617720"/>
            <a:ext cx="3505200" cy="1261872"/>
          </a:xfrm>
          <a:prstGeom prst="roundRect">
            <a:avLst>
              <a:gd name="adj" fmla="val 1007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MÉTODO NUMÉRICO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800" i="0" u="none">
                <a:solidFill>
                  <a:srgbClr val="0F172A"/>
                </a:solidFill>
                <a:latin typeface="Space Grotesk"/>
              </a:rPr>
              <a:t>Interpolación de Newton (diferencias divididas)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600" y="1645890"/>
            <a:ext cx="11201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FB7185"/>
                </a:solidFill>
                <a:latin typeface="Plus Jakarta Sans"/>
              </a:rPr>
              <a:t>POLINOMIO P(t) DE GRADO 3 · S(t) EN MILLONES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1883664"/>
            <a:ext cx="10241280" cy="5760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900" i="0" u="none">
                <a:solidFill>
                  <a:srgbClr val="F8FAFC"/>
                </a:solidFill>
                <a:latin typeface="Space Grotesk"/>
              </a:rPr>
              <a:t>P(t) = 96.349 + 3.25351(t−34) − 0.05879(t−34)(t−35)
          − 0.009340(t−34)(t−35)(t−36)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551176"/>
            <a:ext cx="1024128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400" i="0" u="none">
                <a:solidFill>
                  <a:srgbClr val="94A3B8"/>
                </a:solidFill>
                <a:latin typeface="Plus Jakarta Sans"/>
              </a:rPr>
              <a:t>Cuatro datos cercanos a la meta permiten seguir la curvatura entre las mediciones.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4850421"/>
            <a:ext cx="306324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64748B"/>
                </a:solidFill>
                <a:latin typeface="Plus Jakarta Sans"/>
              </a:rPr>
              <a:t>DATOS CERCANOS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5079021"/>
            <a:ext cx="3063240" cy="381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b="1" sz="3000" i="0" u="none">
                <a:solidFill>
                  <a:srgbClr val="E11D48"/>
                </a:solidFill>
                <a:latin typeface="Plus Jakarta Sans"/>
              </a:rPr>
              <a:t>4 datos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5517171"/>
            <a:ext cx="306324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334155"/>
                </a:solidFill>
                <a:latin typeface="Plus Jakarta Sans"/>
              </a:rPr>
              <a:t>Semanas 34, 35, 36 y 37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4850421"/>
            <a:ext cx="306324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64748B"/>
                </a:solidFill>
                <a:latin typeface="Plus Jakarta Sans"/>
              </a:rPr>
              <a:t>GRADO DEL POLINOMIO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5079021"/>
            <a:ext cx="3063240" cy="381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b="1" sz="3000" i="0" u="none">
                <a:solidFill>
                  <a:srgbClr val="0F172A"/>
                </a:solidFill>
                <a:latin typeface="Plus Jakarta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5517171"/>
            <a:ext cx="306324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334155"/>
                </a:solidFill>
                <a:latin typeface="Plus Jakarta Sans"/>
              </a:rPr>
              <a:t>Pasa exactamente por los datos.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4850421"/>
            <a:ext cx="306324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64748B"/>
                </a:solidFill>
                <a:latin typeface="Plus Jakarta Sans"/>
              </a:rPr>
              <a:t>¿POR QUÉ NO LOS 47?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5800" y="5079021"/>
            <a:ext cx="3063240" cy="381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b="1" sz="3000" i="0" u="none">
                <a:solidFill>
                  <a:srgbClr val="0284C7"/>
                </a:solidFill>
                <a:latin typeface="Plus Jakarta Sans"/>
              </a:rPr>
              <a:t>Grado 46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5800" y="5517171"/>
            <a:ext cx="306324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334155"/>
                </a:solidFill>
                <a:latin typeface="Plus Jakarta Sans"/>
              </a:rPr>
              <a:t>Con tantos puntos puede oscilar.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822960" y="3072384"/>
          <a:ext cx="10533888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103120"/>
                <a:gridCol w="2505456"/>
                <a:gridCol w="2505456"/>
                <a:gridCol w="2505456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Aptos"/>
                        </a:rPr>
                        <a:t>t</a:t>
                      </a:r>
                    </a:p>
                  </a:txBody>
                  <a:tcPr marT="22860" marB="22860">
                    <a:solidFill>
                      <a:srgbClr val="101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Aptos"/>
                        </a:rPr>
                        <a:t>S(t) [M]</a:t>
                      </a:r>
                    </a:p>
                  </a:txBody>
                  <a:tcPr marT="22860" marB="22860">
                    <a:solidFill>
                      <a:srgbClr val="101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Aptos"/>
                        </a:rPr>
                        <a:t>1ra diferencia</a:t>
                      </a:r>
                    </a:p>
                  </a:txBody>
                  <a:tcPr marT="22860" marB="22860">
                    <a:solidFill>
                      <a:srgbClr val="101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Aptos"/>
                        </a:rPr>
                        <a:t>2da diferencia</a:t>
                      </a:r>
                    </a:p>
                  </a:txBody>
                  <a:tcPr marT="22860" marB="22860">
                    <a:solidFill>
                      <a:srgbClr val="101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Aptos"/>
                        </a:rPr>
                        <a:t>3ra diferencia</a:t>
                      </a:r>
                    </a:p>
                  </a:txBody>
                  <a:tcPr marT="22860" marB="22860">
                    <a:solidFill>
                      <a:srgbClr val="10182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34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96.349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3.25351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−0.05879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−0.00934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35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99.602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3.13594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−0.08681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36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102.738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2.96232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37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105.700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2537370"/>
            <a:ext cx="5334000" cy="2895600"/>
          </a:xfrm>
          <a:prstGeom prst="roundRect">
            <a:avLst>
              <a:gd name="adj" fmla="val 526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248400" y="2532608"/>
            <a:ext cx="5334000" cy="2905125"/>
          </a:xfrm>
          <a:prstGeom prst="roundRect">
            <a:avLst>
              <a:gd name="adj" fmla="val 5245"/>
            </a:avLst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4766220"/>
            <a:ext cx="4724400" cy="3619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53200" y="4770983"/>
            <a:ext cx="4724400" cy="3619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876800" y="2865983"/>
            <a:ext cx="762000" cy="247650"/>
          </a:xfrm>
          <a:prstGeom prst="roundRect">
            <a:avLst>
              <a:gd name="adj" fmla="val 30769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766220"/>
            <a:ext cx="47244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553700" y="2861220"/>
            <a:ext cx="723900" cy="247650"/>
          </a:xfrm>
          <a:prstGeom prst="roundRect">
            <a:avLst>
              <a:gd name="adj" fmla="val 30769"/>
            </a:avLst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53200" y="4770983"/>
            <a:ext cx="4724400" cy="9525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MÉTODO NUMÉRICO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Determinación del Hito de 100 Millones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1170432"/>
            <a:ext cx="10972800" cy="10332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64748B"/>
                </a:solidFill>
                <a:latin typeface="Plus Jakarta Sans"/>
              </a:rPr>
              <a:t>f(t) = P(t) − 100 = 0 · |Ea| &lt; 10⁻⁴ % (error relativo porcentual aproximado)
f(35) = −0.3978 &lt; 0 &lt; f(36) = 2.7381
Newton a mano: t₀ = 35, f′(35) = 3.2041, x₁ = 35 − (−0.3978)/3.2041 = 35.1242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9845"/>
            <a:ext cx="466344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334155"/>
                </a:solidFill>
                <a:latin typeface="Plus Jakarta Sans"/>
              </a:rPr>
              <a:t>Intervalo inicial: [35, 36]</a:t>
            </a:r>
            <a:r>
              <a:rPr b="1" sz="1350" i="0" u="none">
                <a:solidFill>
                  <a:srgbClr val="334155"/>
                </a:solidFill>
                <a:latin typeface="Plus Jakarta Sans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394745"/>
            <a:ext cx="466344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400" i="0" u="none">
                <a:solidFill>
                  <a:srgbClr val="475569"/>
                </a:solidFill>
                <a:latin typeface="Plus Jakarta Sans"/>
              </a:rPr>
              <a:t>Lineal. Requiere cambio de signo. Segura y lenta.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200" y="3285083"/>
            <a:ext cx="46634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334155"/>
                </a:solidFill>
                <a:latin typeface="Plus Jakarta Sans"/>
              </a:rPr>
              <a:t>Semilla inicial: t₀ = 35 semanas</a:t>
            </a:r>
            <a:r>
              <a:rPr b="1" sz="1350" i="0" u="none">
                <a:solidFill>
                  <a:srgbClr val="334155"/>
                </a:solidFill>
                <a:latin typeface="Plus Jakarta Sans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3200" y="4399508"/>
            <a:ext cx="466344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400" i="0" u="none">
                <a:solidFill>
                  <a:srgbClr val="475569"/>
                </a:solidFill>
                <a:latin typeface="Plus Jakarta Sans"/>
              </a:rPr>
              <a:t>Cuadrática. Requiere f′(t) y buen t₀. Rápida.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2842170"/>
            <a:ext cx="1430178" cy="295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800" i="0" u="none">
                <a:solidFill>
                  <a:srgbClr val="0F172A"/>
                </a:solidFill>
                <a:latin typeface="Space Grotesk"/>
              </a:rPr>
              <a:t>Bisección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91100" y="2904083"/>
            <a:ext cx="628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475569"/>
                </a:solidFill>
                <a:latin typeface="Plus Jakarta Sans"/>
              </a:rPr>
              <a:t>Cerrado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661320"/>
            <a:ext cx="752475" cy="581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3600" i="0" u="none">
                <a:solidFill>
                  <a:srgbClr val="0284C7"/>
                </a:solidFill>
                <a:latin typeface="Plus Jakarta Sans"/>
              </a:rPr>
              <a:t>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57325" y="3956595"/>
            <a:ext cx="1209675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64748B"/>
                </a:solidFill>
                <a:latin typeface="Plus Jakarta Sans"/>
              </a:rPr>
              <a:t>iteraciones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909095"/>
            <a:ext cx="466344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Plus Jakarta Sans"/>
              </a:rPr>
              <a:t>t* = 35.124481 semanas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3200" y="2837408"/>
            <a:ext cx="2525315" cy="295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800" i="0" u="none">
                <a:solidFill>
                  <a:srgbClr val="BE123C"/>
                </a:solidFill>
                <a:latin typeface="Space Grotesk"/>
              </a:rPr>
              <a:t>Newton-Raphson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68000" y="2899320"/>
            <a:ext cx="5905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9F1239"/>
                </a:solidFill>
                <a:latin typeface="Plus Jakarta Sans"/>
              </a:rPr>
              <a:t>Abierto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3200" y="3666083"/>
            <a:ext cx="561975" cy="581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3600" i="0" u="none">
                <a:solidFill>
                  <a:srgbClr val="E11D48"/>
                </a:solidFill>
                <a:latin typeface="Plus Jakarta San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5625" y="3961358"/>
            <a:ext cx="2643187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BE123C"/>
                </a:solidFill>
                <a:latin typeface="Plus Jakarta Sans"/>
              </a:rPr>
              <a:t>iteraciones (5× menos)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53200" y="4913858"/>
            <a:ext cx="466344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9F1239"/>
                </a:solidFill>
                <a:latin typeface="Plus Jakarta Sans"/>
              </a:rPr>
              <a:t>t* = 35.124460 semanas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806440"/>
            <a:ext cx="10789920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2300" i="0" u="none">
                <a:solidFill>
                  <a:srgbClr val="64748B"/>
                </a:solidFill>
                <a:latin typeface="Plus Jakarta Sans"/>
              </a:rPr>
              <a:t>Resultado: t* ≈ 35.12 semanas ≈ 28/09/2023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09600" y="6200775"/>
            <a:ext cx="630936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0284C7"/>
                </a:solidFill>
                <a:latin typeface="Plus Jakarta Sans"/>
              </a:rPr>
              <a:t>Bisección: Siempre converge si hay cambio de signo (15 iteraciones).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24700" y="6200775"/>
            <a:ext cx="506730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E11D48"/>
                </a:solidFill>
                <a:latin typeface="Plus Jakarta Sans"/>
              </a:rPr>
              <a:t>Newton-Raphson: Convergencia cuadrática en solo 3 pasos.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457200"/>
            <a:ext cx="7012781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EFICIENCIA NUMÉRICA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66750"/>
            <a:ext cx="736342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Convergencia: Lineal vs. Cuadrática</a:t>
            </a:r>
          </a:p>
        </p:txBody>
      </p:sp>
      <p:pic>
        <p:nvPicPr>
          <p:cNvPr id="9" name="Picture 8" descr="grafico_2_convergencia_biseccion_vs_newt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0675" y="1463040"/>
            <a:ext cx="746760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12648" y="1600200"/>
            <a:ext cx="5330952" cy="1143000"/>
          </a:xfrm>
          <a:prstGeom prst="roundRect">
            <a:avLst>
              <a:gd name="adj" fmla="val 22641"/>
            </a:avLst>
          </a:prstGeom>
          <a:solidFill>
            <a:srgbClr val="F3E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245352" y="1600200"/>
            <a:ext cx="5330952" cy="1143000"/>
          </a:xfrm>
          <a:prstGeom prst="roundRect">
            <a:avLst>
              <a:gd name="adj" fmla="val 22641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457200"/>
            <a:ext cx="8548687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7C3AED"/>
                </a:solidFill>
                <a:latin typeface="Plus Jakarta Sans"/>
              </a:rPr>
              <a:t>APLICACIÓN DE INGENIERÍA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66750"/>
            <a:ext cx="8976121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800" i="0" u="none">
                <a:solidFill>
                  <a:srgbClr val="0F172A"/>
                </a:solidFill>
                <a:latin typeface="Space Grotesk"/>
              </a:rPr>
              <a:t>Ancho de banda en la semana pico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19656"/>
            <a:ext cx="4828032" cy="6675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100" i="0" u="none">
                <a:solidFill>
                  <a:srgbClr val="6B21A8"/>
                </a:solidFill>
                <a:latin typeface="Plus Jakarta Sans"/>
              </a:rPr>
              <a:t>Semana pico: 26 (27/07/2023)
4.17 M reproducciones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01384" y="1819656"/>
            <a:ext cx="4800600" cy="6675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300" i="0" u="none">
                <a:solidFill>
                  <a:srgbClr val="991B1B"/>
                </a:solidFill>
                <a:latin typeface="Plus Jakarta Sans"/>
              </a:rPr>
              <a:t>≈ 205 Mbps
de ancho de banda promedio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00400"/>
            <a:ext cx="10698480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000" i="0" u="none">
                <a:solidFill>
                  <a:srgbClr val="8B5CF6"/>
                </a:solidFill>
                <a:latin typeface="Plus Jakarta Sans"/>
              </a:rPr>
              <a:t>Mbps = reproducciones/semana × 160 kbps × 186 s ÷ 1000 ÷ 604 800 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394960"/>
            <a:ext cx="10698480" cy="685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200" i="0" u="none">
                <a:solidFill>
                  <a:srgbClr val="6D28D9"/>
                </a:solidFill>
                <a:latin typeface="Plus Jakarta Sans"/>
              </a:rPr>
              <a:t>La red tiene que soportar unos 205 Mbps solo para esta canción en México.</a:t>
            </a:r>
          </a:p>
        </p:txBody>
      </p:sp>
      <p:sp>
        <p:nvSpPr>
          <p:cNvPr id="42" name="Supuestos"/>
          <p:cNvSpPr txBox="1"/>
          <p:nvPr/>
        </p:nvSpPr>
        <p:spPr>
          <a:xfrm>
            <a:off x="777240" y="3977639"/>
            <a:ext cx="10698480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b="0" sz="1700" i="0" u="none">
                <a:solidFill>
                  <a:srgbClr val="475569"/>
                </a:solidFill>
                <a:latin typeface="Plus Jakarta Sans"/>
              </a:rPr>
              <a:t>Supuestos: duración de 3:06 (186 s) y audio a 160 kbps.
Son órdenes de magnitud, no datos de Spotify.
Referencias: Wikipedia, Dulce Beat (duración), y Spotify, Calidad de audio.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609600" y="457200"/>
            <a:ext cx="8548687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7C3AED"/>
                </a:solidFill>
                <a:latin typeface="Plus Jakarta Sans"/>
              </a:rPr>
              <a:t>GENERALIZACIÓN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66750"/>
            <a:ext cx="8976121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¿Sirve para Cualquier Canción? 3 Casos Reales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983480"/>
            <a:ext cx="10698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82880" indent="-164592">
              <a:spcAft>
                <a:spcPts val="500"/>
              </a:spcAft>
              <a:buChar char="•"/>
            </a:pPr>
            <a:r>
              <a:rPr b="0" sz="1500" i="0" u="none">
                <a:solidFill>
                  <a:srgbClr val="475569"/>
                </a:solidFill>
                <a:latin typeface="Plus Jakarta Sans"/>
              </a:rPr>
              <a:t>Mismo programa: solo cambia el archivo CSV.</a:t>
            </a:r>
          </a:p>
          <a:p>
            <a:pPr marL="182880" indent="-164592">
              <a:spcAft>
                <a:spcPts val="500"/>
              </a:spcAft>
              <a:buChar char="•"/>
            </a:pPr>
            <a:r>
              <a:rPr b="0" sz="1500" i="0" u="none">
                <a:solidFill>
                  <a:srgbClr val="475569"/>
                </a:solidFill>
                <a:latin typeface="Plus Jakarta Sans"/>
              </a:rPr>
              <a:t>Hito de 100 M: Rosa Pastel 28/09/2023, Ella Baila Sola 19/04/2023, Tití 21/07/2022.</a:t>
            </a:r>
          </a:p>
          <a:p>
            <a:pPr marL="182880" indent="-164592">
              <a:spcAft>
                <a:spcPts val="500"/>
              </a:spcAft>
              <a:buChar char="•"/>
            </a:pPr>
            <a:r>
              <a:rPr b="0" sz="1500" i="0" u="none">
                <a:solidFill>
                  <a:srgbClr val="475569"/>
                </a:solidFill>
                <a:latin typeface="Plus Jakarta Sans"/>
              </a:rPr>
              <a:t>Bisección: 15 a 18 iteraciones; Newton: 3 o 4.</a:t>
            </a:r>
          </a:p>
          <a:p>
            <a:pPr marL="182880" indent="-164592">
              <a:spcAft>
                <a:spcPts val="500"/>
              </a:spcAft>
              <a:buChar char="•"/>
            </a:pPr>
            <a:r>
              <a:rPr b="0" sz="1500" i="0" u="none">
                <a:solidFill>
                  <a:srgbClr val="475569"/>
                </a:solidFill>
                <a:latin typeface="Plus Jakarta Sans"/>
              </a:rPr>
              <a:t>Sirve para estimar cuándo cualquier contenido alcanza una meta de demanda.</a:t>
            </a:r>
          </a:p>
        </p:txBody>
      </p:sp>
      <p:pic>
        <p:nvPicPr>
          <p:cNvPr id="13" name="Picture 12" descr="grafico_3_comparacion_cancion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1" y="1280160"/>
            <a:ext cx="10917936" cy="363931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40995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21030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01065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146970"/>
            <a:ext cx="381000" cy="3810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8550" y="3146970"/>
            <a:ext cx="381000" cy="3810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8900" y="3146970"/>
            <a:ext cx="381000" cy="3810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250" y="3146970"/>
            <a:ext cx="381000" cy="3810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2975" y="3251745"/>
            <a:ext cx="171450" cy="17145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19512" y="3251745"/>
            <a:ext cx="219075" cy="17145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3675" y="3251745"/>
            <a:ext cx="171450" cy="17145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44025" y="3251745"/>
            <a:ext cx="171450" cy="1714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EVALUACIÓN TÉCNICA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Límites y Condiciones de Borde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3642270"/>
            <a:ext cx="219456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00" i="0" u="none">
                <a:solidFill>
                  <a:srgbClr val="0F172A"/>
                </a:solidFill>
                <a:latin typeface="Space Grotesk"/>
              </a:rPr>
              <a:t>Alcance de los datos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3975645"/>
            <a:ext cx="22098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475569"/>
                </a:solidFill>
                <a:latin typeface="Plus Jakarta Sans"/>
              </a:rPr>
              <a:t>Solo Spotify México, Top 200.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8550" y="3642270"/>
            <a:ext cx="219456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00" i="0" u="none">
                <a:solidFill>
                  <a:srgbClr val="0F172A"/>
                </a:solidFill>
                <a:latin typeface="Space Grotesk"/>
              </a:rPr>
              <a:t>Datos semanales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8550" y="3975645"/>
            <a:ext cx="22098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475569"/>
                </a:solidFill>
                <a:latin typeface="Plus Jakarta Sans"/>
              </a:rPr>
              <a:t>Suponemos crecimiento suave dentro de la semana.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8900" y="3642270"/>
            <a:ext cx="219456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00" i="0" u="none">
                <a:solidFill>
                  <a:srgbClr val="0F172A"/>
                </a:solidFill>
                <a:latin typeface="Space Grotesk"/>
              </a:rPr>
              <a:t>Interpolación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8900" y="3975645"/>
            <a:ext cx="22098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475569"/>
                </a:solidFill>
                <a:latin typeface="Plus Jakarta Sans"/>
              </a:rPr>
              <a:t>Entre datos medidos: no predice a futuro.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9250" y="3642270"/>
            <a:ext cx="219456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00" i="0" u="none">
                <a:solidFill>
                  <a:srgbClr val="0F172A"/>
                </a:solidFill>
                <a:latin typeface="Space Grotesk"/>
              </a:rPr>
              <a:t>Supuestos de audio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9250" y="3975645"/>
            <a:ext cx="22098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475569"/>
                </a:solidFill>
                <a:latin typeface="Plus Jakarta Sans"/>
              </a:rPr>
              <a:t>El ancho de banda usa supuestos (3:06, 160 kbps).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1379190"/>
            <a:ext cx="3454449" cy="1266825"/>
          </a:xfrm>
          <a:prstGeom prst="roundRect">
            <a:avLst>
              <a:gd name="adj" fmla="val 12030"/>
            </a:avLst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368849" y="1379190"/>
            <a:ext cx="3454449" cy="1266825"/>
          </a:xfrm>
          <a:prstGeom prst="roundRect">
            <a:avLst>
              <a:gd name="adj" fmla="val 12030"/>
            </a:avLst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128099" y="1379190"/>
            <a:ext cx="3454449" cy="1266825"/>
          </a:xfrm>
          <a:prstGeom prst="roundRect">
            <a:avLst>
              <a:gd name="adj" fmla="val 12030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600" y="4137570"/>
            <a:ext cx="5372100" cy="1076325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0300" y="4137570"/>
            <a:ext cx="5372100" cy="1076325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4137570"/>
            <a:ext cx="38100" cy="1076325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0300" y="4137570"/>
            <a:ext cx="38100" cy="1076325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SÍNTESIS DEL PROYECTO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Conclusiones y aplicación a la ingeniería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1168" y="1645890"/>
            <a:ext cx="3651312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b="1" sz="3600" i="0" u="none">
                <a:solidFill>
                  <a:srgbClr val="E11D48"/>
                </a:solidFill>
                <a:latin typeface="Plus Jakarta Sans"/>
              </a:rPr>
              <a:t>28/09/2023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1168" y="2179290"/>
            <a:ext cx="3651312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200" i="0" u="none">
                <a:solidFill>
                  <a:srgbClr val="475569"/>
                </a:solidFill>
                <a:latin typeface="Plus Jakarta Sans"/>
              </a:rPr>
              <a:t>Hito de 100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70418" y="1645890"/>
            <a:ext cx="3651312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b="1" sz="3600" i="0" u="none">
                <a:solidFill>
                  <a:srgbClr val="0284C7"/>
                </a:solidFill>
                <a:latin typeface="Plus Jakarta Sans"/>
              </a:rPr>
              <a:t>3 vs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0418" y="2179290"/>
            <a:ext cx="3651312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200" i="0" u="none">
                <a:solidFill>
                  <a:srgbClr val="475569"/>
                </a:solidFill>
                <a:latin typeface="Plus Jakarta Sans"/>
              </a:rPr>
              <a:t>Iteraciones Newton vs bisección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29668" y="1645890"/>
            <a:ext cx="3651312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b="1" sz="3600" i="0" u="none">
                <a:solidFill>
                  <a:srgbClr val="16A34A"/>
                </a:solidFill>
                <a:latin typeface="Plus Jakarta Sans"/>
              </a:rPr>
              <a:t>≈ 205 Mbps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9668" y="2179290"/>
            <a:ext cx="3651312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200" i="0" u="none">
                <a:solidFill>
                  <a:srgbClr val="475569"/>
                </a:solidFill>
                <a:latin typeface="Plus Jakarta Sans"/>
              </a:rPr>
              <a:t>Semana pico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6300" y="4328070"/>
            <a:ext cx="475488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Space Grotesk"/>
              </a:rPr>
              <a:t>Interpolación de Newton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6300" y="4585245"/>
            <a:ext cx="497205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64748B"/>
                </a:solidFill>
                <a:latin typeface="Plus Jakarta Sans"/>
              </a:rPr>
              <a:t>Estima el instante entre dos mediciones semanales.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7000" y="4328070"/>
            <a:ext cx="475488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Space Grotesk"/>
              </a:rPr>
              <a:t>Métodos de raíces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7000" y="4585245"/>
            <a:ext cx="497205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64748B"/>
                </a:solidFill>
                <a:latin typeface="Plus Jakarta Sans"/>
              </a:rPr>
              <a:t>Newton-Raphson converge mucho más rápido; bisección es más segura.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2900000"/>
            <a:ext cx="10972800" cy="1076325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2900000"/>
            <a:ext cx="38100" cy="1076325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6300" y="3090500"/>
            <a:ext cx="1057280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Space Grotesk"/>
              </a:rPr>
              <a:t>Generalizable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6300" y="3347675"/>
            <a:ext cx="105728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64748B"/>
                </a:solidFill>
                <a:latin typeface="Plus Jakarta Sans"/>
              </a:rPr>
              <a:t>El mismo programa sirve para cualquier canción con datos semanales.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581400" y="4007048"/>
            <a:ext cx="5029200" cy="600075"/>
          </a:xfrm>
          <a:prstGeom prst="roundRect">
            <a:avLst>
              <a:gd name="adj" fmla="val 22222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9562" y="1812577"/>
            <a:ext cx="3952875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050" i="0" u="none">
                <a:solidFill>
                  <a:srgbClr val="FB7185"/>
                </a:solidFill>
                <a:latin typeface="Plus Jakarta Sans"/>
              </a:rPr>
              <a:t>TALLER DE MÉTODOS NUMÉRICOS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14339" y="2136427"/>
            <a:ext cx="6563320" cy="670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5280"/>
              </a:lnSpc>
            </a:pPr>
            <a:r>
              <a:rPr b="1" sz="4800" i="0" u="none">
                <a:solidFill>
                  <a:srgbClr val="FFFFFF"/>
                </a:solidFill>
                <a:latin typeface="Space Grotesk"/>
              </a:rPr>
              <a:t>¡Muchas Gracias!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26468" y="2997398"/>
            <a:ext cx="7739062" cy="628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475"/>
              </a:lnSpc>
            </a:pPr>
            <a:r>
              <a:rPr b="0" sz="1650" i="0" u="none">
                <a:solidFill>
                  <a:srgbClr val="94A3B8"/>
                </a:solidFill>
                <a:latin typeface="Plus Jakarta Sans"/>
              </a:rPr>
              <a:t>¿Preguntas?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93343" y="4873823"/>
            <a:ext cx="4405312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0" sz="1050" i="0" u="none">
                <a:solidFill>
                  <a:srgbClr val="64748B"/>
                </a:solidFill>
                <a:latin typeface="Plus Jakarta Sans"/>
              </a:rPr>
              <a:t>Universidad Católica de Córdoba · Facultad de Ingeniería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81425" y="4197548"/>
            <a:ext cx="123825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350" i="0" u="none">
                <a:solidFill>
                  <a:srgbClr val="E2E8F0"/>
                </a:solidFill>
                <a:latin typeface="Plus Jakarta Sans"/>
              </a:rPr>
              <a:t>Pedro Gatti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30415" y="4197548"/>
            <a:ext cx="1512093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350" i="0" u="none">
                <a:solidFill>
                  <a:srgbClr val="E2E8F0"/>
                </a:solidFill>
                <a:latin typeface="Plus Jakarta Sans"/>
              </a:rPr>
              <a:t>Facundo Grillo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678" y="4197548"/>
            <a:ext cx="1464468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350" i="0" u="none">
                <a:solidFill>
                  <a:srgbClr val="E2E8F0"/>
                </a:solidFill>
                <a:latin typeface="Plus Jakarta Sans"/>
              </a:rPr>
              <a:t>Gonzalo Marin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1500" y="866775"/>
            <a:ext cx="11049000" cy="771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1500" y="162877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1500" y="162877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009650"/>
            <a:ext cx="857250" cy="4762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81175"/>
            <a:ext cx="857250" cy="4762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1500" y="571500"/>
            <a:ext cx="2150268" cy="295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800" i="0" u="none">
                <a:solidFill>
                  <a:srgbClr val="F8FAFC"/>
                </a:solidFill>
                <a:latin typeface="Space Grotesk"/>
              </a:rPr>
              <a:t>Image Sources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66875" y="1047750"/>
            <a:ext cx="6965156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F8FAFC"/>
                </a:solidFill>
                <a:latin typeface="Plus Jakarta Sans"/>
              </a:rPr>
              <a:t>https://www.musicconnection.com/wp-content/uploads/2024/04/2V7A2667-620x420.jpg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6875" y="1247775"/>
            <a:ext cx="3309937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200" i="0" u="none">
                <a:solidFill>
                  <a:srgbClr val="F8FAFC"/>
                </a:solidFill>
                <a:latin typeface="Plus Jakarta Sans"/>
              </a:rPr>
              <a:t>Source: </a:t>
            </a:r>
            <a:r>
              <a:rPr b="0" sz="1200" i="0" u="none">
                <a:solidFill>
                  <a:srgbClr val="4F46E5"/>
                </a:solidFill>
                <a:latin typeface="Plus Jakarta Sans"/>
              </a:rPr>
              <a:t>www.musicconnection.com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6875" y="1819275"/>
            <a:ext cx="6274593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F8FAFC"/>
                </a:solidFill>
                <a:latin typeface="Plus Jakarta Sans"/>
              </a:rPr>
              <a:t>https://stagsterlabs.com/images/capabilities/cloud-hosting-websites-mobile.png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6875" y="2019300"/>
            <a:ext cx="2345531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200" i="0" u="none">
                <a:solidFill>
                  <a:srgbClr val="F8FAFC"/>
                </a:solidFill>
                <a:latin typeface="Plus Jakarta Sans"/>
              </a:rPr>
              <a:t>Source: </a:t>
            </a:r>
            <a:r>
              <a:rPr b="0" sz="1200" i="0" u="none">
                <a:solidFill>
                  <a:srgbClr val="4F46E5"/>
                </a:solidFill>
                <a:latin typeface="Plus Jakarta Sans"/>
              </a:rPr>
              <a:t>stagsterlabs.com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